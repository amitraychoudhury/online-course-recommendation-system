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6" r:id="rId1"/>
  </p:sldMasterIdLst>
  <p:sldIdLst>
    <p:sldId id="256" r:id="rId2"/>
    <p:sldId id="305" r:id="rId3"/>
    <p:sldId id="257" r:id="rId4"/>
    <p:sldId id="292" r:id="rId5"/>
    <p:sldId id="310" r:id="rId6"/>
    <p:sldId id="309" r:id="rId7"/>
    <p:sldId id="308" r:id="rId8"/>
    <p:sldId id="311" r:id="rId9"/>
    <p:sldId id="312" r:id="rId10"/>
    <p:sldId id="302" r:id="rId11"/>
    <p:sldId id="314" r:id="rId12"/>
    <p:sldId id="315" r:id="rId13"/>
    <p:sldId id="290" r:id="rId14"/>
    <p:sldId id="307" r:id="rId15"/>
    <p:sldId id="291" r:id="rId16"/>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309" autoAdjust="0"/>
    <p:restoredTop sz="94660"/>
  </p:normalViewPr>
  <p:slideViewPr>
    <p:cSldViewPr snapToGrid="0" snapToObjects="1">
      <p:cViewPr varScale="1">
        <p:scale>
          <a:sx n="61" d="100"/>
          <a:sy n="61" d="100"/>
        </p:scale>
        <p:origin x="604"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88825"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6675" y="2404534"/>
            <a:ext cx="7764913" cy="1646302"/>
          </a:xfrm>
        </p:spPr>
        <p:txBody>
          <a:bodyPr anchor="b">
            <a:noAutofit/>
          </a:bodyPr>
          <a:lstStyle>
            <a:lvl1pPr algn="r">
              <a:defRPr sz="5398">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6675" y="4050834"/>
            <a:ext cx="7764913" cy="1096899"/>
          </a:xfrm>
        </p:spPr>
        <p:txBody>
          <a:bodyPr anchor="t"/>
          <a:lstStyle>
            <a:lvl1pPr marL="0" indent="0" algn="r">
              <a:buNone/>
              <a:defRPr>
                <a:solidFill>
                  <a:schemeClr val="tx1">
                    <a:lumMod val="50000"/>
                    <a:lumOff val="50000"/>
                  </a:schemeClr>
                </a:solidFill>
              </a:defRPr>
            </a:lvl1pPr>
            <a:lvl2pPr marL="457063" indent="0" algn="ctr">
              <a:buNone/>
              <a:defRPr>
                <a:solidFill>
                  <a:schemeClr val="tx1">
                    <a:tint val="75000"/>
                  </a:schemeClr>
                </a:solidFill>
              </a:defRPr>
            </a:lvl2pPr>
            <a:lvl3pPr marL="914126" indent="0" algn="ctr">
              <a:buNone/>
              <a:defRPr>
                <a:solidFill>
                  <a:schemeClr val="tx1">
                    <a:tint val="75000"/>
                  </a:schemeClr>
                </a:solidFill>
              </a:defRPr>
            </a:lvl3pPr>
            <a:lvl4pPr marL="1371189" indent="0" algn="ctr">
              <a:buNone/>
              <a:defRPr>
                <a:solidFill>
                  <a:schemeClr val="tx1">
                    <a:tint val="75000"/>
                  </a:schemeClr>
                </a:solidFill>
              </a:defRPr>
            </a:lvl4pPr>
            <a:lvl5pPr marL="1828251" indent="0" algn="ctr">
              <a:buNone/>
              <a:defRPr>
                <a:solidFill>
                  <a:schemeClr val="tx1">
                    <a:tint val="75000"/>
                  </a:schemeClr>
                </a:solidFill>
              </a:defRPr>
            </a:lvl5pPr>
            <a:lvl6pPr marL="2285314" indent="0" algn="ctr">
              <a:buNone/>
              <a:defRPr>
                <a:solidFill>
                  <a:schemeClr val="tx1">
                    <a:tint val="75000"/>
                  </a:schemeClr>
                </a:solidFill>
              </a:defRPr>
            </a:lvl6pPr>
            <a:lvl7pPr marL="2742377" indent="0" algn="ctr">
              <a:buNone/>
              <a:defRPr>
                <a:solidFill>
                  <a:schemeClr val="tx1">
                    <a:tint val="75000"/>
                  </a:schemeClr>
                </a:solidFill>
              </a:defRPr>
            </a:lvl7pPr>
            <a:lvl8pPr marL="3199440" indent="0" algn="ctr">
              <a:buNone/>
              <a:defRPr>
                <a:solidFill>
                  <a:schemeClr val="tx1">
                    <a:tint val="75000"/>
                  </a:schemeClr>
                </a:solidFill>
              </a:defRPr>
            </a:lvl8pPr>
            <a:lvl9pPr marL="3656503"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27536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0845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159" y="2700868"/>
            <a:ext cx="8594429" cy="1826581"/>
          </a:xfrm>
        </p:spPr>
        <p:txBody>
          <a:bodyPr anchor="b"/>
          <a:lstStyle>
            <a:lvl1pPr algn="l">
              <a:defRPr sz="3999" b="0" cap="none"/>
            </a:lvl1pPr>
          </a:lstStyle>
          <a:p>
            <a:r>
              <a:rPr lang="en-US"/>
              <a:t>Click to edit Master title style</a:t>
            </a:r>
            <a:endParaRPr lang="en-US" dirty="0"/>
          </a:p>
        </p:txBody>
      </p:sp>
      <p:sp>
        <p:nvSpPr>
          <p:cNvPr id="3" name="Text Placeholder 2"/>
          <p:cNvSpPr>
            <a:spLocks noGrp="1"/>
          </p:cNvSpPr>
          <p:nvPr>
            <p:ph type="body" idx="1"/>
          </p:nvPr>
        </p:nvSpPr>
        <p:spPr>
          <a:xfrm>
            <a:off x="677159" y="4527448"/>
            <a:ext cx="8594429" cy="860400"/>
          </a:xfrm>
        </p:spPr>
        <p:txBody>
          <a:bodyPr anchor="t"/>
          <a:lstStyle>
            <a:lvl1pPr marL="0" indent="0" algn="l">
              <a:buNone/>
              <a:defRPr sz="1999">
                <a:solidFill>
                  <a:schemeClr val="tx1">
                    <a:lumMod val="50000"/>
                    <a:lumOff val="50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1743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158" y="2160589"/>
            <a:ext cx="418294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8645" y="2160590"/>
            <a:ext cx="418294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821529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570" y="2160983"/>
            <a:ext cx="4184533" cy="576262"/>
          </a:xfrm>
        </p:spPr>
        <p:txBody>
          <a:bodyPr anchor="b">
            <a:noAutofit/>
          </a:bodyPr>
          <a:lstStyle>
            <a:lvl1pPr marL="0" indent="0">
              <a:buNone/>
              <a:defRPr sz="23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4" name="Content Placeholder 3"/>
          <p:cNvSpPr>
            <a:spLocks noGrp="1"/>
          </p:cNvSpPr>
          <p:nvPr>
            <p:ph sz="half" idx="2"/>
          </p:nvPr>
        </p:nvSpPr>
        <p:spPr>
          <a:xfrm>
            <a:off x="675570" y="2737246"/>
            <a:ext cx="418453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7058" y="2160983"/>
            <a:ext cx="4184528" cy="576262"/>
          </a:xfrm>
        </p:spPr>
        <p:txBody>
          <a:bodyPr anchor="b">
            <a:noAutofit/>
          </a:bodyPr>
          <a:lstStyle>
            <a:lvl1pPr marL="0" indent="0">
              <a:buNone/>
              <a:defRPr sz="23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7059" y="2737246"/>
            <a:ext cx="418452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5119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158" y="609600"/>
            <a:ext cx="8594429"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09000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97878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158" y="1498604"/>
            <a:ext cx="3853524" cy="1278466"/>
          </a:xfrm>
        </p:spPr>
        <p:txBody>
          <a:bodyPr anchor="b">
            <a:normAutofit/>
          </a:bodyPr>
          <a:lstStyle>
            <a:lvl1pPr>
              <a:defRPr sz="1999"/>
            </a:lvl1pPr>
          </a:lstStyle>
          <a:p>
            <a:r>
              <a:rPr lang="en-US"/>
              <a:t>Click to edit Master title style</a:t>
            </a:r>
            <a:endParaRPr lang="en-US" dirty="0"/>
          </a:p>
        </p:txBody>
      </p:sp>
      <p:sp>
        <p:nvSpPr>
          <p:cNvPr id="3" name="Content Placeholder 2"/>
          <p:cNvSpPr>
            <a:spLocks noGrp="1"/>
          </p:cNvSpPr>
          <p:nvPr>
            <p:ph idx="1"/>
          </p:nvPr>
        </p:nvSpPr>
        <p:spPr>
          <a:xfrm>
            <a:off x="4759222" y="514925"/>
            <a:ext cx="4512366"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158" y="2777069"/>
            <a:ext cx="3853524" cy="2584449"/>
          </a:xfrm>
        </p:spPr>
        <p:txBody>
          <a:bodyPr>
            <a:normAutofit/>
          </a:bodyPr>
          <a:lstStyle>
            <a:lvl1pPr marL="0" indent="0">
              <a:buNone/>
              <a:defRPr sz="1400"/>
            </a:lvl1pPr>
            <a:lvl2pPr marL="456926" indent="0">
              <a:buNone/>
              <a:defRPr sz="1400"/>
            </a:lvl2pPr>
            <a:lvl3pPr marL="913852" indent="0">
              <a:buNone/>
              <a:defRPr sz="1200"/>
            </a:lvl3pPr>
            <a:lvl4pPr marL="1370778" indent="0">
              <a:buNone/>
              <a:defRPr sz="1000"/>
            </a:lvl4pPr>
            <a:lvl5pPr marL="1827703" indent="0">
              <a:buNone/>
              <a:defRPr sz="1000"/>
            </a:lvl5pPr>
            <a:lvl6pPr marL="2284628" indent="0">
              <a:buNone/>
              <a:defRPr sz="1000"/>
            </a:lvl6pPr>
            <a:lvl7pPr marL="2741554" indent="0">
              <a:buNone/>
              <a:defRPr sz="1000"/>
            </a:lvl7pPr>
            <a:lvl8pPr marL="3198480" indent="0">
              <a:buNone/>
              <a:defRPr sz="1000"/>
            </a:lvl8pPr>
            <a:lvl9pPr marL="3655406"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335258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158" y="4800600"/>
            <a:ext cx="8594428" cy="566738"/>
          </a:xfrm>
        </p:spPr>
        <p:txBody>
          <a:bodyPr anchor="b">
            <a:normAutofit/>
          </a:bodyPr>
          <a:lstStyle>
            <a:lvl1pPr algn="l">
              <a:defRPr sz="2399"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158" y="609600"/>
            <a:ext cx="8594429" cy="3845718"/>
          </a:xfrm>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158" y="5367338"/>
            <a:ext cx="8594428" cy="674024"/>
          </a:xfrm>
        </p:spPr>
        <p:txBody>
          <a:bodyPr>
            <a:normAutofit/>
          </a:bodyPr>
          <a:lstStyle>
            <a:lvl1pPr marL="0" indent="0">
              <a:buNone/>
              <a:defRPr sz="12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12/16/2025</a:t>
            </a:fld>
            <a:endParaRPr lang="en-US"/>
          </a:p>
        </p:txBody>
      </p:sp>
    </p:spTree>
    <p:extLst>
      <p:ext uri="{BB962C8B-B14F-4D97-AF65-F5344CB8AC3E}">
        <p14:creationId xmlns:p14="http://schemas.microsoft.com/office/powerpoint/2010/main" val="75885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159" y="609600"/>
            <a:ext cx="8594429" cy="3403600"/>
          </a:xfrm>
        </p:spPr>
        <p:txBody>
          <a:bodyPr anchor="ctr">
            <a:normAutofit/>
          </a:bodyPr>
          <a:lstStyle>
            <a:lvl1pPr algn="l">
              <a:defRPr sz="4399" b="0" cap="none"/>
            </a:lvl1pPr>
          </a:lstStyle>
          <a:p>
            <a:r>
              <a:rPr lang="en-US"/>
              <a:t>Click to edit Master title style</a:t>
            </a:r>
            <a:endParaRPr lang="en-US" dirty="0"/>
          </a:p>
        </p:txBody>
      </p:sp>
      <p:sp>
        <p:nvSpPr>
          <p:cNvPr id="3" name="Text Placeholder 2"/>
          <p:cNvSpPr>
            <a:spLocks noGrp="1"/>
          </p:cNvSpPr>
          <p:nvPr>
            <p:ph type="body" idx="1"/>
          </p:nvPr>
        </p:nvSpPr>
        <p:spPr>
          <a:xfrm>
            <a:off x="677159" y="4470400"/>
            <a:ext cx="8594429" cy="1570962"/>
          </a:xfrm>
        </p:spPr>
        <p:txBody>
          <a:bodyPr anchor="ctr">
            <a:normAutofit/>
          </a:bodyPr>
          <a:lstStyle>
            <a:lvl1pPr marL="0" indent="0" algn="l">
              <a:buNone/>
              <a:defRPr sz="1799">
                <a:solidFill>
                  <a:schemeClr val="tx1">
                    <a:lumMod val="75000"/>
                    <a:lumOff val="25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0848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092" y="609600"/>
            <a:ext cx="8092026" cy="3022600"/>
          </a:xfrm>
        </p:spPr>
        <p:txBody>
          <a:bodyPr anchor="ctr">
            <a:normAutofit/>
          </a:bodyPr>
          <a:lstStyle>
            <a:lvl1pPr algn="l">
              <a:defRPr sz="4399"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5783" y="3632200"/>
            <a:ext cx="7222643" cy="381000"/>
          </a:xfrm>
        </p:spPr>
        <p:txBody>
          <a:bodyPr anchor="ctr">
            <a:noAutofit/>
          </a:bodyPr>
          <a:lstStyle>
            <a:lvl1pPr marL="0" indent="0">
              <a:buFontTx/>
              <a:buNone/>
              <a:defRPr sz="1600">
                <a:solidFill>
                  <a:schemeClr val="tx1">
                    <a:lumMod val="50000"/>
                    <a:lumOff val="50000"/>
                  </a:schemeClr>
                </a:solidFill>
              </a:defRPr>
            </a:lvl1pPr>
            <a:lvl2pPr marL="457063" indent="0">
              <a:buFontTx/>
              <a:buNone/>
              <a:defRPr/>
            </a:lvl2pPr>
            <a:lvl3pPr marL="914126" indent="0">
              <a:buFontTx/>
              <a:buNone/>
              <a:defRPr/>
            </a:lvl3pPr>
            <a:lvl4pPr marL="1371189" indent="0">
              <a:buFontTx/>
              <a:buNone/>
              <a:defRPr/>
            </a:lvl4pPr>
            <a:lvl5pPr marL="1828251" indent="0">
              <a:buFontTx/>
              <a:buNone/>
              <a:defRPr/>
            </a:lvl5pPr>
          </a:lstStyle>
          <a:p>
            <a:pPr lvl="0"/>
            <a:r>
              <a:rPr lang="en-US"/>
              <a:t>Click to edit Master text styles</a:t>
            </a:r>
          </a:p>
        </p:txBody>
      </p:sp>
      <p:sp>
        <p:nvSpPr>
          <p:cNvPr id="3" name="Text Placeholder 2"/>
          <p:cNvSpPr>
            <a:spLocks noGrp="1"/>
          </p:cNvSpPr>
          <p:nvPr>
            <p:ph type="body" idx="1"/>
          </p:nvPr>
        </p:nvSpPr>
        <p:spPr>
          <a:xfrm>
            <a:off x="677159" y="4470400"/>
            <a:ext cx="8594429" cy="1570962"/>
          </a:xfrm>
        </p:spPr>
        <p:txBody>
          <a:bodyPr anchor="ctr">
            <a:normAutofit/>
          </a:bodyPr>
          <a:lstStyle>
            <a:lvl1pPr marL="0" indent="0" algn="l">
              <a:buNone/>
              <a:defRPr sz="1799">
                <a:solidFill>
                  <a:schemeClr val="tx1">
                    <a:lumMod val="75000"/>
                    <a:lumOff val="25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541729" y="790378"/>
            <a:ext cx="609441" cy="584776"/>
          </a:xfrm>
          <a:prstGeom prst="rect">
            <a:avLst/>
          </a:prstGeom>
        </p:spPr>
        <p:txBody>
          <a:bodyPr vert="horz" lIns="91416" tIns="45708" rIns="91416" bIns="45708" rtlCol="0" anchor="ctr">
            <a:noAutofit/>
          </a:bodyPr>
          <a:lstStyle/>
          <a:p>
            <a:pPr lvl="0"/>
            <a:r>
              <a:rPr lang="en-US" sz="7998"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0695" y="2886556"/>
            <a:ext cx="609441" cy="584776"/>
          </a:xfrm>
          <a:prstGeom prst="rect">
            <a:avLst/>
          </a:prstGeom>
        </p:spPr>
        <p:txBody>
          <a:bodyPr vert="horz" lIns="91416" tIns="45708" rIns="91416" bIns="45708" rtlCol="0" anchor="ctr">
            <a:noAutofit/>
          </a:bodyPr>
          <a:lstStyle/>
          <a:p>
            <a:pPr lvl="0"/>
            <a:r>
              <a:rPr lang="en-US" sz="7998"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431619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159" y="1931988"/>
            <a:ext cx="8594429" cy="2595460"/>
          </a:xfrm>
        </p:spPr>
        <p:txBody>
          <a:bodyPr anchor="b">
            <a:normAutofit/>
          </a:bodyPr>
          <a:lstStyle>
            <a:lvl1pPr algn="l">
              <a:defRPr sz="4399" b="0" cap="none"/>
            </a:lvl1pPr>
          </a:lstStyle>
          <a:p>
            <a:r>
              <a:rPr lang="en-US"/>
              <a:t>Click to edit Master title style</a:t>
            </a:r>
            <a:endParaRPr lang="en-US" dirty="0"/>
          </a:p>
        </p:txBody>
      </p:sp>
      <p:sp>
        <p:nvSpPr>
          <p:cNvPr id="3" name="Text Placeholder 2"/>
          <p:cNvSpPr>
            <a:spLocks noGrp="1"/>
          </p:cNvSpPr>
          <p:nvPr>
            <p:ph type="body" idx="1"/>
          </p:nvPr>
        </p:nvSpPr>
        <p:spPr>
          <a:xfrm>
            <a:off x="677159" y="4527448"/>
            <a:ext cx="8594429" cy="1513914"/>
          </a:xfrm>
        </p:spPr>
        <p:txBody>
          <a:bodyPr anchor="t">
            <a:normAutofit/>
          </a:bodyPr>
          <a:lstStyle>
            <a:lvl1pPr marL="0" indent="0" algn="l">
              <a:buNone/>
              <a:defRPr sz="1799">
                <a:solidFill>
                  <a:schemeClr val="tx1">
                    <a:lumMod val="75000"/>
                    <a:lumOff val="25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134051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092" y="609600"/>
            <a:ext cx="8092026" cy="3022600"/>
          </a:xfrm>
        </p:spPr>
        <p:txBody>
          <a:bodyPr anchor="ctr">
            <a:normAutofit/>
          </a:bodyPr>
          <a:lstStyle>
            <a:lvl1pPr algn="l">
              <a:defRPr sz="4399"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156" y="4013200"/>
            <a:ext cx="8594430" cy="514248"/>
          </a:xfrm>
        </p:spPr>
        <p:txBody>
          <a:bodyPr anchor="b">
            <a:noAutofit/>
          </a:bodyPr>
          <a:lstStyle>
            <a:lvl1pPr marL="0" indent="0">
              <a:buFontTx/>
              <a:buNone/>
              <a:defRPr sz="2399">
                <a:solidFill>
                  <a:schemeClr val="tx1">
                    <a:lumMod val="75000"/>
                    <a:lumOff val="25000"/>
                  </a:schemeClr>
                </a:solidFill>
              </a:defRPr>
            </a:lvl1pPr>
            <a:lvl2pPr marL="457063" indent="0">
              <a:buFontTx/>
              <a:buNone/>
              <a:defRPr/>
            </a:lvl2pPr>
            <a:lvl3pPr marL="914126" indent="0">
              <a:buFontTx/>
              <a:buNone/>
              <a:defRPr/>
            </a:lvl3pPr>
            <a:lvl4pPr marL="1371189" indent="0">
              <a:buFontTx/>
              <a:buNone/>
              <a:defRPr/>
            </a:lvl4pPr>
            <a:lvl5pPr marL="1828251" indent="0">
              <a:buFontTx/>
              <a:buNone/>
              <a:defRPr/>
            </a:lvl5pPr>
          </a:lstStyle>
          <a:p>
            <a:pPr lvl="0"/>
            <a:r>
              <a:rPr lang="en-US"/>
              <a:t>Click to edit Master text styles</a:t>
            </a:r>
          </a:p>
        </p:txBody>
      </p:sp>
      <p:sp>
        <p:nvSpPr>
          <p:cNvPr id="3" name="Text Placeholder 2"/>
          <p:cNvSpPr>
            <a:spLocks noGrp="1"/>
          </p:cNvSpPr>
          <p:nvPr>
            <p:ph type="body" idx="1"/>
          </p:nvPr>
        </p:nvSpPr>
        <p:spPr>
          <a:xfrm>
            <a:off x="677159" y="4527448"/>
            <a:ext cx="8594429" cy="1513914"/>
          </a:xfrm>
        </p:spPr>
        <p:txBody>
          <a:bodyPr anchor="t">
            <a:normAutofit/>
          </a:bodyPr>
          <a:lstStyle>
            <a:lvl1pPr marL="0" indent="0" algn="l">
              <a:buNone/>
              <a:defRPr sz="1799">
                <a:solidFill>
                  <a:schemeClr val="tx1">
                    <a:lumMod val="50000"/>
                    <a:lumOff val="50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541729" y="790378"/>
            <a:ext cx="609441" cy="584776"/>
          </a:xfrm>
          <a:prstGeom prst="rect">
            <a:avLst/>
          </a:prstGeom>
        </p:spPr>
        <p:txBody>
          <a:bodyPr vert="horz" lIns="91416" tIns="45708" rIns="91416" bIns="45708" rtlCol="0" anchor="ctr">
            <a:noAutofit/>
          </a:bodyPr>
          <a:lstStyle/>
          <a:p>
            <a:pPr lvl="0"/>
            <a:r>
              <a:rPr lang="en-US" sz="7998"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0695" y="2886556"/>
            <a:ext cx="609441" cy="584776"/>
          </a:xfrm>
          <a:prstGeom prst="rect">
            <a:avLst/>
          </a:prstGeom>
        </p:spPr>
        <p:txBody>
          <a:bodyPr vert="horz" lIns="91416" tIns="45708" rIns="91416" bIns="45708" rtlCol="0" anchor="ctr">
            <a:noAutofit/>
          </a:bodyPr>
          <a:lstStyle/>
          <a:p>
            <a:pPr lvl="0"/>
            <a:r>
              <a:rPr lang="en-US" sz="7998"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075233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621" y="609600"/>
            <a:ext cx="8585966" cy="3022600"/>
          </a:xfrm>
        </p:spPr>
        <p:txBody>
          <a:bodyPr anchor="ctr">
            <a:normAutofit/>
          </a:bodyPr>
          <a:lstStyle>
            <a:lvl1pPr algn="l">
              <a:defRPr sz="4399"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156" y="4013200"/>
            <a:ext cx="8594430" cy="514248"/>
          </a:xfrm>
        </p:spPr>
        <p:txBody>
          <a:bodyPr anchor="b">
            <a:noAutofit/>
          </a:bodyPr>
          <a:lstStyle>
            <a:lvl1pPr marL="0" indent="0">
              <a:buFontTx/>
              <a:buNone/>
              <a:defRPr sz="2399">
                <a:solidFill>
                  <a:schemeClr val="accent1"/>
                </a:solidFill>
              </a:defRPr>
            </a:lvl1pPr>
            <a:lvl2pPr marL="457063" indent="0">
              <a:buFontTx/>
              <a:buNone/>
              <a:defRPr/>
            </a:lvl2pPr>
            <a:lvl3pPr marL="914126" indent="0">
              <a:buFontTx/>
              <a:buNone/>
              <a:defRPr/>
            </a:lvl3pPr>
            <a:lvl4pPr marL="1371189" indent="0">
              <a:buFontTx/>
              <a:buNone/>
              <a:defRPr/>
            </a:lvl4pPr>
            <a:lvl5pPr marL="1828251" indent="0">
              <a:buFontTx/>
              <a:buNone/>
              <a:defRPr/>
            </a:lvl5pPr>
          </a:lstStyle>
          <a:p>
            <a:pPr lvl="0"/>
            <a:r>
              <a:rPr lang="en-US"/>
              <a:t>Click to edit Master text styles</a:t>
            </a:r>
          </a:p>
        </p:txBody>
      </p:sp>
      <p:sp>
        <p:nvSpPr>
          <p:cNvPr id="3" name="Text Placeholder 2"/>
          <p:cNvSpPr>
            <a:spLocks noGrp="1"/>
          </p:cNvSpPr>
          <p:nvPr>
            <p:ph type="body" idx="1"/>
          </p:nvPr>
        </p:nvSpPr>
        <p:spPr>
          <a:xfrm>
            <a:off x="677159" y="4527448"/>
            <a:ext cx="8594429" cy="1513914"/>
          </a:xfrm>
        </p:spPr>
        <p:txBody>
          <a:bodyPr anchor="t">
            <a:normAutofit/>
          </a:bodyPr>
          <a:lstStyle>
            <a:lvl1pPr marL="0" indent="0" algn="l">
              <a:buNone/>
              <a:defRPr sz="1799">
                <a:solidFill>
                  <a:schemeClr val="tx1">
                    <a:lumMod val="50000"/>
                    <a:lumOff val="50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596104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396807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5599" y="609600"/>
            <a:ext cx="130440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159" y="609600"/>
            <a:ext cx="7058311"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88187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88825"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158" y="609600"/>
            <a:ext cx="8594429"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158" y="2160590"/>
            <a:ext cx="8594429"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3257" y="6041363"/>
            <a:ext cx="91170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12/16/2025</a:t>
            </a:fld>
            <a:endParaRPr lang="en-US"/>
          </a:p>
        </p:txBody>
      </p:sp>
      <p:sp>
        <p:nvSpPr>
          <p:cNvPr id="5" name="Footer Placeholder 4"/>
          <p:cNvSpPr>
            <a:spLocks noGrp="1"/>
          </p:cNvSpPr>
          <p:nvPr>
            <p:ph type="ftr" sz="quarter" idx="3"/>
          </p:nvPr>
        </p:nvSpPr>
        <p:spPr>
          <a:xfrm>
            <a:off x="677158" y="6041363"/>
            <a:ext cx="629597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88426" y="6041363"/>
            <a:ext cx="683161"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719355535"/>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788" r:id="rId12"/>
    <p:sldLayoutId id="2147483789" r:id="rId13"/>
    <p:sldLayoutId id="2147483790" r:id="rId14"/>
    <p:sldLayoutId id="2147483791" r:id="rId15"/>
    <p:sldLayoutId id="2147483792" r:id="rId16"/>
  </p:sldLayoutIdLst>
  <p:txStyles>
    <p:titleStyle>
      <a:lvl1pPr algn="l" defTabSz="457063" rtl="0" eaLnBrk="1" latinLnBrk="0" hangingPunct="1">
        <a:spcBef>
          <a:spcPct val="0"/>
        </a:spcBef>
        <a:buNone/>
        <a:defRPr sz="3599"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797" indent="-342797" algn="l" defTabSz="457063" rtl="0" eaLnBrk="1" latinLnBrk="0" hangingPunct="1">
        <a:spcBef>
          <a:spcPts val="1000"/>
        </a:spcBef>
        <a:spcAft>
          <a:spcPts val="0"/>
        </a:spcAft>
        <a:buClr>
          <a:schemeClr val="accent1"/>
        </a:buClr>
        <a:buSzPct val="80000"/>
        <a:buFont typeface="Wingdings 3" charset="2"/>
        <a:buChar char=""/>
        <a:defRPr sz="1799" kern="1200">
          <a:solidFill>
            <a:schemeClr val="tx1">
              <a:lumMod val="75000"/>
              <a:lumOff val="25000"/>
            </a:schemeClr>
          </a:solidFill>
          <a:latin typeface="+mn-lt"/>
          <a:ea typeface="+mn-ea"/>
          <a:cs typeface="+mn-cs"/>
        </a:defRPr>
      </a:lvl1pPr>
      <a:lvl2pPr marL="742727" indent="-285664" algn="l" defTabSz="457063"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2657" indent="-228531" algn="l" defTabSz="457063"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599720"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6783"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3846"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0908"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7971"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5034"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063" rtl="0" eaLnBrk="1" latinLnBrk="0" hangingPunct="1">
        <a:defRPr sz="1799" kern="1200">
          <a:solidFill>
            <a:schemeClr val="tx1"/>
          </a:solidFill>
          <a:latin typeface="+mn-lt"/>
          <a:ea typeface="+mn-ea"/>
          <a:cs typeface="+mn-cs"/>
        </a:defRPr>
      </a:lvl1pPr>
      <a:lvl2pPr marL="457063" algn="l" defTabSz="457063" rtl="0" eaLnBrk="1" latinLnBrk="0" hangingPunct="1">
        <a:defRPr sz="1799" kern="1200">
          <a:solidFill>
            <a:schemeClr val="tx1"/>
          </a:solidFill>
          <a:latin typeface="+mn-lt"/>
          <a:ea typeface="+mn-ea"/>
          <a:cs typeface="+mn-cs"/>
        </a:defRPr>
      </a:lvl2pPr>
      <a:lvl3pPr marL="914126" algn="l" defTabSz="457063" rtl="0" eaLnBrk="1" latinLnBrk="0" hangingPunct="1">
        <a:defRPr sz="1799" kern="1200">
          <a:solidFill>
            <a:schemeClr val="tx1"/>
          </a:solidFill>
          <a:latin typeface="+mn-lt"/>
          <a:ea typeface="+mn-ea"/>
          <a:cs typeface="+mn-cs"/>
        </a:defRPr>
      </a:lvl3pPr>
      <a:lvl4pPr marL="1371189" algn="l" defTabSz="457063" rtl="0" eaLnBrk="1" latinLnBrk="0" hangingPunct="1">
        <a:defRPr sz="1799" kern="1200">
          <a:solidFill>
            <a:schemeClr val="tx1"/>
          </a:solidFill>
          <a:latin typeface="+mn-lt"/>
          <a:ea typeface="+mn-ea"/>
          <a:cs typeface="+mn-cs"/>
        </a:defRPr>
      </a:lvl4pPr>
      <a:lvl5pPr marL="1828251" algn="l" defTabSz="457063" rtl="0" eaLnBrk="1" latinLnBrk="0" hangingPunct="1">
        <a:defRPr sz="1799" kern="1200">
          <a:solidFill>
            <a:schemeClr val="tx1"/>
          </a:solidFill>
          <a:latin typeface="+mn-lt"/>
          <a:ea typeface="+mn-ea"/>
          <a:cs typeface="+mn-cs"/>
        </a:defRPr>
      </a:lvl5pPr>
      <a:lvl6pPr marL="2285314" algn="l" defTabSz="457063" rtl="0" eaLnBrk="1" latinLnBrk="0" hangingPunct="1">
        <a:defRPr sz="1799" kern="1200">
          <a:solidFill>
            <a:schemeClr val="tx1"/>
          </a:solidFill>
          <a:latin typeface="+mn-lt"/>
          <a:ea typeface="+mn-ea"/>
          <a:cs typeface="+mn-cs"/>
        </a:defRPr>
      </a:lvl6pPr>
      <a:lvl7pPr marL="2742377" algn="l" defTabSz="457063" rtl="0" eaLnBrk="1" latinLnBrk="0" hangingPunct="1">
        <a:defRPr sz="1799" kern="1200">
          <a:solidFill>
            <a:schemeClr val="tx1"/>
          </a:solidFill>
          <a:latin typeface="+mn-lt"/>
          <a:ea typeface="+mn-ea"/>
          <a:cs typeface="+mn-cs"/>
        </a:defRPr>
      </a:lvl7pPr>
      <a:lvl8pPr marL="3199440" algn="l" defTabSz="457063" rtl="0" eaLnBrk="1" latinLnBrk="0" hangingPunct="1">
        <a:defRPr sz="1799" kern="1200">
          <a:solidFill>
            <a:schemeClr val="tx1"/>
          </a:solidFill>
          <a:latin typeface="+mn-lt"/>
          <a:ea typeface="+mn-ea"/>
          <a:cs typeface="+mn-cs"/>
        </a:defRPr>
      </a:lvl8pPr>
      <a:lvl9pPr marL="3656503" algn="l" defTabSz="457063"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31371" y="435430"/>
            <a:ext cx="10870245" cy="2111828"/>
          </a:xfrm>
        </p:spPr>
        <p:txBody>
          <a:bodyPr>
            <a:normAutofit/>
          </a:bodyPr>
          <a:lstStyle/>
          <a:p>
            <a:pPr algn="ctr"/>
            <a:r>
              <a:rPr lang="en-US" b="1" i="0" dirty="0">
                <a:solidFill>
                  <a:srgbClr val="032A3B"/>
                </a:solidFill>
                <a:effectLst/>
                <a:latin typeface="Source Sans"/>
              </a:rPr>
              <a:t>🎓 Online Course Recommender</a:t>
            </a:r>
            <a:endParaRPr dirty="0"/>
          </a:p>
        </p:txBody>
      </p:sp>
      <p:sp>
        <p:nvSpPr>
          <p:cNvPr id="3" name="Subtitle 2"/>
          <p:cNvSpPr>
            <a:spLocks noGrp="1"/>
          </p:cNvSpPr>
          <p:nvPr>
            <p:ph type="subTitle" idx="1"/>
          </p:nvPr>
        </p:nvSpPr>
        <p:spPr>
          <a:xfrm>
            <a:off x="1861836" y="3114369"/>
            <a:ext cx="8322691" cy="480173"/>
          </a:xfrm>
        </p:spPr>
        <p:txBody>
          <a:bodyPr>
            <a:normAutofit fontScale="92500"/>
          </a:bodyPr>
          <a:lstStyle/>
          <a:p>
            <a:r>
              <a:rPr lang="en-US" dirty="0"/>
              <a:t>Created By </a:t>
            </a:r>
            <a:r>
              <a:rPr dirty="0"/>
              <a:t>: Amit Choudhury  |  Organization: EXCELR  |  Course: Data Scientist</a:t>
            </a:r>
          </a:p>
          <a:p>
            <a:endParaRPr dirty="0"/>
          </a:p>
        </p:txBody>
      </p:sp>
      <p:sp>
        <p:nvSpPr>
          <p:cNvPr id="4" name="TextBox 3">
            <a:extLst>
              <a:ext uri="{FF2B5EF4-FFF2-40B4-BE49-F238E27FC236}">
                <a16:creationId xmlns:a16="http://schemas.microsoft.com/office/drawing/2014/main" id="{78C9A1B0-A7A4-41F6-B8FD-9FD4254EC6BD}"/>
              </a:ext>
            </a:extLst>
          </p:cNvPr>
          <p:cNvSpPr txBox="1"/>
          <p:nvPr/>
        </p:nvSpPr>
        <p:spPr>
          <a:xfrm>
            <a:off x="1870843" y="2534948"/>
            <a:ext cx="9465896" cy="369204"/>
          </a:xfrm>
          <a:prstGeom prst="rect">
            <a:avLst/>
          </a:prstGeom>
          <a:noFill/>
        </p:spPr>
        <p:txBody>
          <a:bodyPr wrap="square" rtlCol="0">
            <a:spAutoFit/>
          </a:bodyPr>
          <a:lstStyle/>
          <a:p>
            <a:r>
              <a:rPr lang="en-US" sz="1799" dirty="0">
                <a:solidFill>
                  <a:schemeClr val="tx1">
                    <a:lumMod val="65000"/>
                    <a:lumOff val="35000"/>
                  </a:schemeClr>
                </a:solidFill>
              </a:rPr>
              <a:t>Smart course suggestions based on interests, past enrollments, and engagement.</a:t>
            </a:r>
          </a:p>
        </p:txBody>
      </p:sp>
      <p:sp>
        <p:nvSpPr>
          <p:cNvPr id="8" name="TextBox 7">
            <a:extLst>
              <a:ext uri="{FF2B5EF4-FFF2-40B4-BE49-F238E27FC236}">
                <a16:creationId xmlns:a16="http://schemas.microsoft.com/office/drawing/2014/main" id="{C4764109-EDEC-4BF8-8753-09D2DBF53C84}"/>
              </a:ext>
            </a:extLst>
          </p:cNvPr>
          <p:cNvSpPr txBox="1"/>
          <p:nvPr/>
        </p:nvSpPr>
        <p:spPr>
          <a:xfrm>
            <a:off x="2396350" y="3684974"/>
            <a:ext cx="5938343" cy="1923604"/>
          </a:xfrm>
          <a:prstGeom prst="rect">
            <a:avLst/>
          </a:prstGeom>
          <a:noFill/>
        </p:spPr>
        <p:txBody>
          <a:bodyPr wrap="square" rtlCol="0">
            <a:spAutoFit/>
          </a:bodyPr>
          <a:lstStyle/>
          <a:p>
            <a:r>
              <a:rPr lang="en-US" sz="1700" dirty="0">
                <a:solidFill>
                  <a:schemeClr val="tx1">
                    <a:lumMod val="50000"/>
                    <a:lumOff val="50000"/>
                  </a:schemeClr>
                </a:solidFill>
              </a:rPr>
              <a:t>👥 Team Members</a:t>
            </a:r>
          </a:p>
          <a:p>
            <a:r>
              <a:rPr lang="en-US" sz="1700" dirty="0">
                <a:solidFill>
                  <a:schemeClr val="tx1">
                    <a:lumMod val="50000"/>
                    <a:lumOff val="50000"/>
                  </a:schemeClr>
                </a:solidFill>
              </a:rPr>
              <a:t>1.Amit Choudhury</a:t>
            </a:r>
          </a:p>
          <a:p>
            <a:r>
              <a:rPr lang="en-US" sz="1700" dirty="0">
                <a:solidFill>
                  <a:schemeClr val="tx1">
                    <a:lumMod val="50000"/>
                    <a:lumOff val="50000"/>
                  </a:schemeClr>
                </a:solidFill>
              </a:rPr>
              <a:t>2.Sanika S. Sharma</a:t>
            </a:r>
          </a:p>
          <a:p>
            <a:r>
              <a:rPr lang="en-US" sz="1700" dirty="0">
                <a:solidFill>
                  <a:schemeClr val="tx1">
                    <a:lumMod val="50000"/>
                    <a:lumOff val="50000"/>
                  </a:schemeClr>
                </a:solidFill>
              </a:rPr>
              <a:t>3.Middi </a:t>
            </a:r>
            <a:r>
              <a:rPr lang="en-US" sz="1700" dirty="0" err="1">
                <a:solidFill>
                  <a:schemeClr val="tx1">
                    <a:lumMod val="50000"/>
                    <a:lumOff val="50000"/>
                  </a:schemeClr>
                </a:solidFill>
              </a:rPr>
              <a:t>Yogananda</a:t>
            </a:r>
            <a:r>
              <a:rPr lang="en-US" sz="1700" dirty="0">
                <a:solidFill>
                  <a:schemeClr val="tx1">
                    <a:lumMod val="50000"/>
                    <a:lumOff val="50000"/>
                  </a:schemeClr>
                </a:solidFill>
              </a:rPr>
              <a:t> Reddy</a:t>
            </a:r>
          </a:p>
          <a:p>
            <a:r>
              <a:rPr lang="en-US" sz="1700" dirty="0">
                <a:solidFill>
                  <a:schemeClr val="tx1">
                    <a:lumMod val="50000"/>
                    <a:lumOff val="50000"/>
                  </a:schemeClr>
                </a:solidFill>
              </a:rPr>
              <a:t>4.CHARAN S M</a:t>
            </a:r>
          </a:p>
          <a:p>
            <a:r>
              <a:rPr lang="en-US" sz="1700" dirty="0">
                <a:solidFill>
                  <a:schemeClr val="tx1">
                    <a:lumMod val="50000"/>
                    <a:lumOff val="50000"/>
                  </a:schemeClr>
                </a:solidFill>
              </a:rPr>
              <a:t>5.Manjunath B. </a:t>
            </a:r>
            <a:r>
              <a:rPr lang="en-US" sz="1700" dirty="0" err="1">
                <a:solidFill>
                  <a:schemeClr val="tx1">
                    <a:lumMod val="50000"/>
                    <a:lumOff val="50000"/>
                  </a:schemeClr>
                </a:solidFill>
              </a:rPr>
              <a:t>Chikkabasur</a:t>
            </a:r>
            <a:endParaRPr lang="en-US" sz="1700" dirty="0">
              <a:solidFill>
                <a:schemeClr val="tx1">
                  <a:lumMod val="50000"/>
                  <a:lumOff val="50000"/>
                </a:schemeClr>
              </a:solidFill>
            </a:endParaRPr>
          </a:p>
          <a:p>
            <a:r>
              <a:rPr lang="en-US" sz="1700" dirty="0">
                <a:solidFill>
                  <a:schemeClr val="tx1">
                    <a:lumMod val="50000"/>
                    <a:lumOff val="50000"/>
                  </a:schemeClr>
                </a:solidFill>
              </a:rPr>
              <a:t>6.Varsha D V</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5B7E7-18D4-409C-9111-3572CAA0FFBC}"/>
              </a:ext>
            </a:extLst>
          </p:cNvPr>
          <p:cNvSpPr>
            <a:spLocks noGrp="1"/>
          </p:cNvSpPr>
          <p:nvPr>
            <p:ph type="title"/>
          </p:nvPr>
        </p:nvSpPr>
        <p:spPr>
          <a:xfrm>
            <a:off x="5030648" y="-3413"/>
            <a:ext cx="2750715" cy="756455"/>
          </a:xfrm>
        </p:spPr>
        <p:txBody>
          <a:bodyPr>
            <a:normAutofit fontScale="90000"/>
          </a:bodyPr>
          <a:lstStyle/>
          <a:p>
            <a:r>
              <a:rPr lang="en-US" b="1" dirty="0"/>
              <a:t>CONTENTS</a:t>
            </a:r>
            <a:br>
              <a:rPr lang="en-US" sz="3600" dirty="0">
                <a:ln w="0"/>
                <a:solidFill>
                  <a:schemeClr val="accent2">
                    <a:lumMod val="50000"/>
                  </a:schemeClr>
                </a:solidFill>
                <a:effectLst>
                  <a:outerShdw blurRad="38100" dist="19050" dir="2700000" algn="tl" rotWithShape="0">
                    <a:schemeClr val="dk1">
                      <a:alpha val="40000"/>
                    </a:schemeClr>
                  </a:outerShdw>
                </a:effectLst>
                <a:latin typeface="Algerian" panose="04020705040A02060702" pitchFamily="82" charset="0"/>
              </a:rPr>
            </a:br>
            <a:endParaRPr lang="en-US" dirty="0"/>
          </a:p>
        </p:txBody>
      </p:sp>
      <p:sp>
        <p:nvSpPr>
          <p:cNvPr id="3" name="Content Placeholder 2">
            <a:extLst>
              <a:ext uri="{FF2B5EF4-FFF2-40B4-BE49-F238E27FC236}">
                <a16:creationId xmlns:a16="http://schemas.microsoft.com/office/drawing/2014/main" id="{B8E95999-542E-4916-A9A3-063D48FBD7C0}"/>
              </a:ext>
            </a:extLst>
          </p:cNvPr>
          <p:cNvSpPr>
            <a:spLocks noGrp="1"/>
          </p:cNvSpPr>
          <p:nvPr>
            <p:ph idx="1"/>
          </p:nvPr>
        </p:nvSpPr>
        <p:spPr>
          <a:xfrm>
            <a:off x="2061882" y="1237129"/>
            <a:ext cx="9439734" cy="4320989"/>
          </a:xfrm>
        </p:spPr>
        <p:txBody>
          <a:bodyPr>
            <a:normAutofit/>
          </a:bodyPr>
          <a:lstStyle/>
          <a:p>
            <a:r>
              <a:rPr lang="en-US" b="1" dirty="0"/>
              <a:t>Problem Statement &amp; Objective                                                                   </a:t>
            </a:r>
          </a:p>
          <a:p>
            <a:r>
              <a:rPr lang="en-US" b="1" dirty="0"/>
              <a:t>Exploratory Data  Analysis (EDA)  </a:t>
            </a:r>
          </a:p>
          <a:p>
            <a:r>
              <a:rPr lang="en-US" b="1" dirty="0"/>
              <a:t> </a:t>
            </a:r>
            <a:r>
              <a:rPr lang="en-US" sz="1800" b="1" dirty="0"/>
              <a:t>Feature Engineering Summary</a:t>
            </a:r>
            <a:r>
              <a:rPr lang="en-US" b="1" dirty="0"/>
              <a:t>                                                 </a:t>
            </a:r>
          </a:p>
          <a:p>
            <a:r>
              <a:rPr lang="en-US" b="1" dirty="0"/>
              <a:t>Model Building                                                                                                                                                                                                                                </a:t>
            </a:r>
          </a:p>
          <a:p>
            <a:r>
              <a:rPr lang="en-US" sz="1800" b="1" dirty="0" err="1">
                <a:latin typeface="Arial" panose="020B0604020202020204" pitchFamily="34" charset="0"/>
              </a:rPr>
              <a:t>Streamlit</a:t>
            </a:r>
            <a:r>
              <a:rPr lang="en-US" sz="1800" b="1" dirty="0">
                <a:latin typeface="Arial" panose="020B0604020202020204" pitchFamily="34" charset="0"/>
              </a:rPr>
              <a:t> Dashboard Demo                                                                      </a:t>
            </a:r>
          </a:p>
          <a:p>
            <a:r>
              <a:rPr lang="en-US" sz="1800" b="1" dirty="0"/>
              <a:t>Final  Conclusion                                                                                    </a:t>
            </a:r>
          </a:p>
          <a:p>
            <a:r>
              <a:rPr lang="en-US" b="1" dirty="0"/>
              <a:t>Future Scope                                                                                             </a:t>
            </a:r>
            <a:br>
              <a:rPr lang="en-US" sz="1800" b="1" dirty="0"/>
            </a:br>
            <a:endParaRPr lang="en-US" b="1" dirty="0"/>
          </a:p>
          <a:p>
            <a:endParaRPr lang="en-US" dirty="0"/>
          </a:p>
        </p:txBody>
      </p:sp>
    </p:spTree>
    <p:extLst>
      <p:ext uri="{BB962C8B-B14F-4D97-AF65-F5344CB8AC3E}">
        <p14:creationId xmlns:p14="http://schemas.microsoft.com/office/powerpoint/2010/main" val="40765773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3890" y="252249"/>
            <a:ext cx="9836107" cy="746234"/>
          </a:xfrm>
        </p:spPr>
        <p:txBody>
          <a:bodyPr/>
          <a:lstStyle/>
          <a:p>
            <a:pPr algn="ctr"/>
            <a:r>
              <a:rPr lang="en-US" b="1" dirty="0"/>
              <a:t>Problem Statement </a:t>
            </a:r>
          </a:p>
        </p:txBody>
      </p:sp>
      <p:sp>
        <p:nvSpPr>
          <p:cNvPr id="3" name="Content Placeholder 2"/>
          <p:cNvSpPr>
            <a:spLocks noGrp="1"/>
          </p:cNvSpPr>
          <p:nvPr>
            <p:ph idx="1"/>
          </p:nvPr>
        </p:nvSpPr>
        <p:spPr>
          <a:xfrm>
            <a:off x="430925" y="1639613"/>
            <a:ext cx="10594428" cy="3342289"/>
          </a:xfrm>
        </p:spPr>
        <p:txBody>
          <a:bodyPr>
            <a:normAutofit/>
          </a:bodyPr>
          <a:lstStyle/>
          <a:p>
            <a:pPr marL="0" marR="0">
              <a:lnSpc>
                <a:spcPct val="115000"/>
              </a:lnSpc>
              <a:spcBef>
                <a:spcPts val="0"/>
              </a:spcBef>
              <a:spcAft>
                <a:spcPts val="1000"/>
              </a:spcAft>
            </a:pPr>
            <a:r>
              <a:rPr lang="en-US" sz="18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t>The goal of this dataset is to build an online course recommendation system that suggests relevant courses to learners based on their interests, past enrollments, and engagement levels. The dataset includes course ratings, instructor information, previous learning history, study material availability, and certification offerings, making it suitable for recommendation models using collaborative filtering, content-based filtering, or hybrid approaches.</a:t>
            </a:r>
          </a:p>
          <a:p>
            <a:pPr algn="l">
              <a:buFont typeface="Arial" panose="020B0604020202020204" pitchFamily="34" charset="0"/>
              <a:buChar char="•"/>
            </a:pPr>
            <a:br>
              <a:rPr lang="en-US" dirty="0">
                <a:solidFill>
                  <a:schemeClr val="tx1"/>
                </a:solidFill>
              </a:rPr>
            </a:br>
            <a:endParaRPr lang="en-US" dirty="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9BA4F-7406-4C59-AC77-A557EB8FF10E}"/>
              </a:ext>
            </a:extLst>
          </p:cNvPr>
          <p:cNvSpPr>
            <a:spLocks noGrp="1"/>
          </p:cNvSpPr>
          <p:nvPr>
            <p:ph type="title"/>
          </p:nvPr>
        </p:nvSpPr>
        <p:spPr>
          <a:xfrm>
            <a:off x="2264229" y="2960914"/>
            <a:ext cx="8436428" cy="1219199"/>
          </a:xfrm>
        </p:spPr>
        <p:txBody>
          <a:bodyPr/>
          <a:lstStyle/>
          <a:p>
            <a:r>
              <a:rPr lang="en-US" b="1" dirty="0"/>
              <a:t>Exploratory Data  Analysis (EDA)</a:t>
            </a:r>
            <a:endParaRPr lang="en-US" dirty="0"/>
          </a:p>
        </p:txBody>
      </p:sp>
    </p:spTree>
    <p:extLst>
      <p:ext uri="{BB962C8B-B14F-4D97-AF65-F5344CB8AC3E}">
        <p14:creationId xmlns:p14="http://schemas.microsoft.com/office/powerpoint/2010/main" val="14093543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EF0AEE-0013-44F1-ACDA-5C7339EC2BC8}"/>
              </a:ext>
            </a:extLst>
          </p:cNvPr>
          <p:cNvSpPr>
            <a:spLocks noGrp="1"/>
          </p:cNvSpPr>
          <p:nvPr>
            <p:ph idx="1"/>
          </p:nvPr>
        </p:nvSpPr>
        <p:spPr>
          <a:xfrm>
            <a:off x="330328" y="328988"/>
            <a:ext cx="6574980" cy="2456250"/>
          </a:xfrm>
        </p:spPr>
        <p:txBody>
          <a:bodyPr/>
          <a:lstStyle/>
          <a:p>
            <a:r>
              <a:rPr lang="en-US" dirty="0"/>
              <a:t>“This visualization shows the distribution of key numerical features using histograms with KDE curves, helping identify data spread, skewness, outliers, and whether features follow a normal distribution—crucial for selecting appropriate models and preprocessing techniques.”</a:t>
            </a:r>
          </a:p>
        </p:txBody>
      </p:sp>
      <p:pic>
        <p:nvPicPr>
          <p:cNvPr id="5" name="Picture 4">
            <a:extLst>
              <a:ext uri="{FF2B5EF4-FFF2-40B4-BE49-F238E27FC236}">
                <a16:creationId xmlns:a16="http://schemas.microsoft.com/office/drawing/2014/main" id="{0D48EB98-C0D1-4756-9B3B-9A67DE7EEAB1}"/>
              </a:ext>
            </a:extLst>
          </p:cNvPr>
          <p:cNvPicPr>
            <a:picLocks noChangeAspect="1"/>
          </p:cNvPicPr>
          <p:nvPr/>
        </p:nvPicPr>
        <p:blipFill>
          <a:blip r:embed="rId2"/>
          <a:stretch>
            <a:fillRect/>
          </a:stretch>
        </p:blipFill>
        <p:spPr>
          <a:xfrm>
            <a:off x="7073462" y="223887"/>
            <a:ext cx="4645571" cy="2729526"/>
          </a:xfrm>
          <a:prstGeom prst="rect">
            <a:avLst/>
          </a:prstGeom>
        </p:spPr>
      </p:pic>
      <p:pic>
        <p:nvPicPr>
          <p:cNvPr id="7" name="Picture 6">
            <a:extLst>
              <a:ext uri="{FF2B5EF4-FFF2-40B4-BE49-F238E27FC236}">
                <a16:creationId xmlns:a16="http://schemas.microsoft.com/office/drawing/2014/main" id="{8FAF90B9-4C00-495B-BAAC-D00CDCFBAB15}"/>
              </a:ext>
            </a:extLst>
          </p:cNvPr>
          <p:cNvPicPr>
            <a:picLocks noChangeAspect="1"/>
          </p:cNvPicPr>
          <p:nvPr/>
        </p:nvPicPr>
        <p:blipFill>
          <a:blip r:embed="rId3"/>
          <a:stretch>
            <a:fillRect/>
          </a:stretch>
        </p:blipFill>
        <p:spPr>
          <a:xfrm>
            <a:off x="7073461" y="3429000"/>
            <a:ext cx="4645571" cy="2847435"/>
          </a:xfrm>
          <a:prstGeom prst="rect">
            <a:avLst/>
          </a:prstGeom>
        </p:spPr>
      </p:pic>
      <p:sp>
        <p:nvSpPr>
          <p:cNvPr id="9" name="Content Placeholder 2">
            <a:extLst>
              <a:ext uri="{FF2B5EF4-FFF2-40B4-BE49-F238E27FC236}">
                <a16:creationId xmlns:a16="http://schemas.microsoft.com/office/drawing/2014/main" id="{CD2F0B46-2C05-4A3A-A067-B50A2B45644A}"/>
              </a:ext>
            </a:extLst>
          </p:cNvPr>
          <p:cNvSpPr txBox="1">
            <a:spLocks/>
          </p:cNvSpPr>
          <p:nvPr/>
        </p:nvSpPr>
        <p:spPr>
          <a:xfrm>
            <a:off x="330328" y="3429000"/>
            <a:ext cx="6574980" cy="1902374"/>
          </a:xfrm>
          <a:prstGeom prst="rect">
            <a:avLst/>
          </a:prstGeom>
        </p:spPr>
        <p:txBody>
          <a:bodyPr vert="horz" lIns="91440" tIns="45720" rIns="91440" bIns="45720" rtlCol="0">
            <a:normAutofit/>
          </a:bodyPr>
          <a:lstStyle>
            <a:lvl1pPr marL="342797" indent="-342797" algn="l" defTabSz="457063" rtl="0" eaLnBrk="1" latinLnBrk="0" hangingPunct="1">
              <a:spcBef>
                <a:spcPts val="1000"/>
              </a:spcBef>
              <a:spcAft>
                <a:spcPts val="0"/>
              </a:spcAft>
              <a:buClr>
                <a:schemeClr val="accent1"/>
              </a:buClr>
              <a:buSzPct val="80000"/>
              <a:buFont typeface="Wingdings 3" charset="2"/>
              <a:buChar char=""/>
              <a:defRPr sz="1799" kern="1200">
                <a:solidFill>
                  <a:schemeClr val="tx1">
                    <a:lumMod val="75000"/>
                    <a:lumOff val="25000"/>
                  </a:schemeClr>
                </a:solidFill>
                <a:latin typeface="+mn-lt"/>
                <a:ea typeface="+mn-ea"/>
                <a:cs typeface="+mn-cs"/>
              </a:defRPr>
            </a:lvl1pPr>
            <a:lvl2pPr marL="742727" indent="-285664" algn="l" defTabSz="457063"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2657" indent="-228531" algn="l" defTabSz="457063"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599720"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6783"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3846"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0908"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7971"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5034"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“Boxplots were used to detect outliers and analyze the spread of numerical features, helping identify extreme values that could negatively impact model performance.”</a:t>
            </a:r>
          </a:p>
        </p:txBody>
      </p:sp>
    </p:spTree>
    <p:extLst>
      <p:ext uri="{BB962C8B-B14F-4D97-AF65-F5344CB8AC3E}">
        <p14:creationId xmlns:p14="http://schemas.microsoft.com/office/powerpoint/2010/main" val="3541173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6E3ED43-4B01-4895-BECB-A698E34D8BBF}"/>
              </a:ext>
            </a:extLst>
          </p:cNvPr>
          <p:cNvPicPr>
            <a:picLocks noGrp="1" noChangeAspect="1"/>
          </p:cNvPicPr>
          <p:nvPr>
            <p:ph idx="1"/>
          </p:nvPr>
        </p:nvPicPr>
        <p:blipFill>
          <a:blip r:embed="rId2"/>
          <a:stretch>
            <a:fillRect/>
          </a:stretch>
        </p:blipFill>
        <p:spPr>
          <a:xfrm>
            <a:off x="7210108" y="3636580"/>
            <a:ext cx="4529946" cy="2921875"/>
          </a:xfrm>
        </p:spPr>
      </p:pic>
      <p:pic>
        <p:nvPicPr>
          <p:cNvPr id="7" name="Picture 6">
            <a:extLst>
              <a:ext uri="{FF2B5EF4-FFF2-40B4-BE49-F238E27FC236}">
                <a16:creationId xmlns:a16="http://schemas.microsoft.com/office/drawing/2014/main" id="{EA8EEB5E-0185-48EA-A380-94FC32475435}"/>
              </a:ext>
            </a:extLst>
          </p:cNvPr>
          <p:cNvPicPr>
            <a:picLocks noChangeAspect="1"/>
          </p:cNvPicPr>
          <p:nvPr/>
        </p:nvPicPr>
        <p:blipFill>
          <a:blip r:embed="rId3"/>
          <a:stretch>
            <a:fillRect/>
          </a:stretch>
        </p:blipFill>
        <p:spPr>
          <a:xfrm>
            <a:off x="7346731" y="415847"/>
            <a:ext cx="4393323" cy="3029106"/>
          </a:xfrm>
          <a:prstGeom prst="rect">
            <a:avLst/>
          </a:prstGeom>
        </p:spPr>
      </p:pic>
      <p:sp>
        <p:nvSpPr>
          <p:cNvPr id="8" name="Content Placeholder 2">
            <a:extLst>
              <a:ext uri="{FF2B5EF4-FFF2-40B4-BE49-F238E27FC236}">
                <a16:creationId xmlns:a16="http://schemas.microsoft.com/office/drawing/2014/main" id="{4A1BFB5E-0630-474A-A166-3A51D62CD5D2}"/>
              </a:ext>
            </a:extLst>
          </p:cNvPr>
          <p:cNvSpPr txBox="1">
            <a:spLocks/>
          </p:cNvSpPr>
          <p:nvPr/>
        </p:nvSpPr>
        <p:spPr>
          <a:xfrm>
            <a:off x="419668" y="3668821"/>
            <a:ext cx="6574980" cy="1654665"/>
          </a:xfrm>
          <a:prstGeom prst="rect">
            <a:avLst/>
          </a:prstGeom>
        </p:spPr>
        <p:txBody>
          <a:bodyPr vert="horz" lIns="91440" tIns="45720" rIns="91440" bIns="45720" rtlCol="0">
            <a:normAutofit/>
          </a:bodyPr>
          <a:lstStyle>
            <a:lvl1pPr marL="342797" indent="-342797" algn="l" defTabSz="457063" rtl="0" eaLnBrk="1" latinLnBrk="0" hangingPunct="1">
              <a:spcBef>
                <a:spcPts val="1000"/>
              </a:spcBef>
              <a:spcAft>
                <a:spcPts val="0"/>
              </a:spcAft>
              <a:buClr>
                <a:schemeClr val="accent1"/>
              </a:buClr>
              <a:buSzPct val="80000"/>
              <a:buFont typeface="Wingdings 3" charset="2"/>
              <a:buChar char=""/>
              <a:defRPr sz="1799" kern="1200">
                <a:solidFill>
                  <a:schemeClr val="tx1">
                    <a:lumMod val="75000"/>
                    <a:lumOff val="25000"/>
                  </a:schemeClr>
                </a:solidFill>
                <a:latin typeface="+mn-lt"/>
                <a:ea typeface="+mn-ea"/>
                <a:cs typeface="+mn-cs"/>
              </a:defRPr>
            </a:lvl1pPr>
            <a:lvl2pPr marL="742727" indent="-285664" algn="l" defTabSz="457063"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2657" indent="-228531" algn="l" defTabSz="457063"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599720"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6783"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3846"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0908"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7971"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5034"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“The correlation heatmap visualizes relationships among numerical features, helping identify strong positive and negative correlations that guide feature selection and reduce multicollinearity.”</a:t>
            </a:r>
          </a:p>
        </p:txBody>
      </p:sp>
      <p:sp>
        <p:nvSpPr>
          <p:cNvPr id="9" name="Content Placeholder 2">
            <a:extLst>
              <a:ext uri="{FF2B5EF4-FFF2-40B4-BE49-F238E27FC236}">
                <a16:creationId xmlns:a16="http://schemas.microsoft.com/office/drawing/2014/main" id="{F02A925B-D984-48B7-93E4-4F9CD80EF4CC}"/>
              </a:ext>
            </a:extLst>
          </p:cNvPr>
          <p:cNvSpPr txBox="1">
            <a:spLocks/>
          </p:cNvSpPr>
          <p:nvPr/>
        </p:nvSpPr>
        <p:spPr>
          <a:xfrm>
            <a:off x="477477" y="457888"/>
            <a:ext cx="6574980" cy="2001536"/>
          </a:xfrm>
          <a:prstGeom prst="rect">
            <a:avLst/>
          </a:prstGeom>
        </p:spPr>
        <p:txBody>
          <a:bodyPr vert="horz" lIns="91440" tIns="45720" rIns="91440" bIns="45720" rtlCol="0">
            <a:normAutofit/>
          </a:bodyPr>
          <a:lstStyle>
            <a:lvl1pPr marL="342797" indent="-342797" algn="l" defTabSz="457063" rtl="0" eaLnBrk="1" latinLnBrk="0" hangingPunct="1">
              <a:spcBef>
                <a:spcPts val="1000"/>
              </a:spcBef>
              <a:spcAft>
                <a:spcPts val="0"/>
              </a:spcAft>
              <a:buClr>
                <a:schemeClr val="accent1"/>
              </a:buClr>
              <a:buSzPct val="80000"/>
              <a:buFont typeface="Wingdings 3" charset="2"/>
              <a:buChar char=""/>
              <a:defRPr sz="1799" kern="1200">
                <a:solidFill>
                  <a:schemeClr val="tx1">
                    <a:lumMod val="75000"/>
                    <a:lumOff val="25000"/>
                  </a:schemeClr>
                </a:solidFill>
                <a:latin typeface="+mn-lt"/>
                <a:ea typeface="+mn-ea"/>
                <a:cs typeface="+mn-cs"/>
              </a:defRPr>
            </a:lvl1pPr>
            <a:lvl2pPr marL="742727" indent="-285664" algn="l" defTabSz="457063"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2657" indent="-228531" algn="l" defTabSz="457063"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599720"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6783"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3846"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0908"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7971"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5034"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“Count plots were used to analyze the distribution of categorical features, identifying dominant categories and handling high-cardinality variables by focusing on top frequent values.”</a:t>
            </a:r>
          </a:p>
        </p:txBody>
      </p:sp>
    </p:spTree>
    <p:extLst>
      <p:ext uri="{BB962C8B-B14F-4D97-AF65-F5344CB8AC3E}">
        <p14:creationId xmlns:p14="http://schemas.microsoft.com/office/powerpoint/2010/main" val="3083951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357219C-8036-443B-BB68-57A261E22C2C}"/>
              </a:ext>
            </a:extLst>
          </p:cNvPr>
          <p:cNvPicPr>
            <a:picLocks noGrp="1" noChangeAspect="1"/>
          </p:cNvPicPr>
          <p:nvPr>
            <p:ph idx="1"/>
          </p:nvPr>
        </p:nvPicPr>
        <p:blipFill>
          <a:blip r:embed="rId2"/>
          <a:stretch>
            <a:fillRect/>
          </a:stretch>
        </p:blipFill>
        <p:spPr>
          <a:xfrm>
            <a:off x="7367752" y="3331779"/>
            <a:ext cx="4279293" cy="3185279"/>
          </a:xfrm>
        </p:spPr>
      </p:pic>
      <p:pic>
        <p:nvPicPr>
          <p:cNvPr id="7" name="Picture 6">
            <a:extLst>
              <a:ext uri="{FF2B5EF4-FFF2-40B4-BE49-F238E27FC236}">
                <a16:creationId xmlns:a16="http://schemas.microsoft.com/office/drawing/2014/main" id="{8827C28A-7856-4EA9-90A1-7275663A5FF7}"/>
              </a:ext>
            </a:extLst>
          </p:cNvPr>
          <p:cNvPicPr>
            <a:picLocks noChangeAspect="1"/>
          </p:cNvPicPr>
          <p:nvPr/>
        </p:nvPicPr>
        <p:blipFill>
          <a:blip r:embed="rId3"/>
          <a:stretch>
            <a:fillRect/>
          </a:stretch>
        </p:blipFill>
        <p:spPr>
          <a:xfrm>
            <a:off x="7367752" y="340941"/>
            <a:ext cx="4279293" cy="2696549"/>
          </a:xfrm>
          <a:prstGeom prst="rect">
            <a:avLst/>
          </a:prstGeom>
        </p:spPr>
      </p:pic>
      <p:sp>
        <p:nvSpPr>
          <p:cNvPr id="8" name="Content Placeholder 2">
            <a:extLst>
              <a:ext uri="{FF2B5EF4-FFF2-40B4-BE49-F238E27FC236}">
                <a16:creationId xmlns:a16="http://schemas.microsoft.com/office/drawing/2014/main" id="{A19181AC-AD64-45FA-A563-09994B4D3812}"/>
              </a:ext>
            </a:extLst>
          </p:cNvPr>
          <p:cNvSpPr txBox="1">
            <a:spLocks/>
          </p:cNvSpPr>
          <p:nvPr/>
        </p:nvSpPr>
        <p:spPr>
          <a:xfrm>
            <a:off x="482728" y="3563716"/>
            <a:ext cx="6574980" cy="1654665"/>
          </a:xfrm>
          <a:prstGeom prst="rect">
            <a:avLst/>
          </a:prstGeom>
        </p:spPr>
        <p:txBody>
          <a:bodyPr vert="horz" lIns="91440" tIns="45720" rIns="91440" bIns="45720" rtlCol="0">
            <a:normAutofit/>
          </a:bodyPr>
          <a:lstStyle>
            <a:lvl1pPr marL="342797" indent="-342797" algn="l" defTabSz="457063" rtl="0" eaLnBrk="1" latinLnBrk="0" hangingPunct="1">
              <a:spcBef>
                <a:spcPts val="1000"/>
              </a:spcBef>
              <a:spcAft>
                <a:spcPts val="0"/>
              </a:spcAft>
              <a:buClr>
                <a:schemeClr val="accent1"/>
              </a:buClr>
              <a:buSzPct val="80000"/>
              <a:buFont typeface="Wingdings 3" charset="2"/>
              <a:buChar char=""/>
              <a:defRPr sz="1799" kern="1200">
                <a:solidFill>
                  <a:schemeClr val="tx1">
                    <a:lumMod val="75000"/>
                    <a:lumOff val="25000"/>
                  </a:schemeClr>
                </a:solidFill>
                <a:latin typeface="+mn-lt"/>
                <a:ea typeface="+mn-ea"/>
                <a:cs typeface="+mn-cs"/>
              </a:defRPr>
            </a:lvl1pPr>
            <a:lvl2pPr marL="742727" indent="-285664" algn="l" defTabSz="457063"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2657" indent="-228531" algn="l" defTabSz="457063"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599720"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6783"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3846"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0908"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7971"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5034"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“The scatter plot illustrates the relationship between learner engagement (time spent) and course ratings, showing that higher engagement generally leads to better ratings.”</a:t>
            </a:r>
          </a:p>
        </p:txBody>
      </p:sp>
      <p:sp>
        <p:nvSpPr>
          <p:cNvPr id="9" name="Content Placeholder 2">
            <a:extLst>
              <a:ext uri="{FF2B5EF4-FFF2-40B4-BE49-F238E27FC236}">
                <a16:creationId xmlns:a16="http://schemas.microsoft.com/office/drawing/2014/main" id="{E57B6E5B-D4B9-4A41-A4E7-9C086EDECE0F}"/>
              </a:ext>
            </a:extLst>
          </p:cNvPr>
          <p:cNvSpPr txBox="1">
            <a:spLocks/>
          </p:cNvSpPr>
          <p:nvPr/>
        </p:nvSpPr>
        <p:spPr>
          <a:xfrm>
            <a:off x="614108" y="457923"/>
            <a:ext cx="6574980" cy="1654665"/>
          </a:xfrm>
          <a:prstGeom prst="rect">
            <a:avLst/>
          </a:prstGeom>
        </p:spPr>
        <p:txBody>
          <a:bodyPr vert="horz" lIns="91440" tIns="45720" rIns="91440" bIns="45720" rtlCol="0">
            <a:normAutofit/>
          </a:bodyPr>
          <a:lstStyle>
            <a:lvl1pPr marL="342797" indent="-342797" algn="l" defTabSz="457063" rtl="0" eaLnBrk="1" latinLnBrk="0" hangingPunct="1">
              <a:spcBef>
                <a:spcPts val="1000"/>
              </a:spcBef>
              <a:spcAft>
                <a:spcPts val="0"/>
              </a:spcAft>
              <a:buClr>
                <a:schemeClr val="accent1"/>
              </a:buClr>
              <a:buSzPct val="80000"/>
              <a:buFont typeface="Wingdings 3" charset="2"/>
              <a:buChar char=""/>
              <a:defRPr sz="1799" kern="1200">
                <a:solidFill>
                  <a:schemeClr val="tx1">
                    <a:lumMod val="75000"/>
                    <a:lumOff val="25000"/>
                  </a:schemeClr>
                </a:solidFill>
                <a:latin typeface="+mn-lt"/>
                <a:ea typeface="+mn-ea"/>
                <a:cs typeface="+mn-cs"/>
              </a:defRPr>
            </a:lvl1pPr>
            <a:lvl2pPr marL="742727" indent="-285664" algn="l" defTabSz="457063"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2657" indent="-228531" algn="l" defTabSz="457063"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599720"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6783"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3846"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0908"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7971"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5034"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“The count plot shows that most courses provide study materials, highlighting a strong focus on learner support and content accessibility.”</a:t>
            </a:r>
          </a:p>
        </p:txBody>
      </p:sp>
    </p:spTree>
    <p:extLst>
      <p:ext uri="{BB962C8B-B14F-4D97-AF65-F5344CB8AC3E}">
        <p14:creationId xmlns:p14="http://schemas.microsoft.com/office/powerpoint/2010/main" val="2735247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A19181AC-AD64-45FA-A563-09994B4D3812}"/>
              </a:ext>
            </a:extLst>
          </p:cNvPr>
          <p:cNvSpPr txBox="1">
            <a:spLocks/>
          </p:cNvSpPr>
          <p:nvPr/>
        </p:nvSpPr>
        <p:spPr>
          <a:xfrm>
            <a:off x="482728" y="2870040"/>
            <a:ext cx="6574980" cy="1654665"/>
          </a:xfrm>
          <a:prstGeom prst="rect">
            <a:avLst/>
          </a:prstGeom>
        </p:spPr>
        <p:txBody>
          <a:bodyPr vert="horz" lIns="91440" tIns="45720" rIns="91440" bIns="45720" rtlCol="0">
            <a:normAutofit/>
          </a:bodyPr>
          <a:lstStyle>
            <a:lvl1pPr marL="342797" indent="-342797" algn="l" defTabSz="457063" rtl="0" eaLnBrk="1" latinLnBrk="0" hangingPunct="1">
              <a:spcBef>
                <a:spcPts val="1000"/>
              </a:spcBef>
              <a:spcAft>
                <a:spcPts val="0"/>
              </a:spcAft>
              <a:buClr>
                <a:schemeClr val="accent1"/>
              </a:buClr>
              <a:buSzPct val="80000"/>
              <a:buFont typeface="Wingdings 3" charset="2"/>
              <a:buChar char=""/>
              <a:defRPr sz="1799" kern="1200">
                <a:solidFill>
                  <a:schemeClr val="tx1">
                    <a:lumMod val="75000"/>
                    <a:lumOff val="25000"/>
                  </a:schemeClr>
                </a:solidFill>
                <a:latin typeface="+mn-lt"/>
                <a:ea typeface="+mn-ea"/>
                <a:cs typeface="+mn-cs"/>
              </a:defRPr>
            </a:lvl1pPr>
            <a:lvl2pPr marL="742727" indent="-285664" algn="l" defTabSz="457063"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2657" indent="-228531" algn="l" defTabSz="457063"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599720"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6783"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3846"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0908"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7971"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5034"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a:t>
            </a:r>
            <a:r>
              <a:rPr lang="en-US" dirty="0" err="1"/>
              <a:t>Pairplot</a:t>
            </a:r>
            <a:r>
              <a:rPr lang="en-US" dirty="0"/>
              <a:t> visualizes pairwise relationships and distributions of numeric features, helping identify correlations, trends, and potential multicollinearity.”</a:t>
            </a:r>
          </a:p>
        </p:txBody>
      </p:sp>
      <p:sp>
        <p:nvSpPr>
          <p:cNvPr id="9" name="Content Placeholder 2">
            <a:extLst>
              <a:ext uri="{FF2B5EF4-FFF2-40B4-BE49-F238E27FC236}">
                <a16:creationId xmlns:a16="http://schemas.microsoft.com/office/drawing/2014/main" id="{E57B6E5B-D4B9-4A41-A4E7-9C086EDECE0F}"/>
              </a:ext>
            </a:extLst>
          </p:cNvPr>
          <p:cNvSpPr txBox="1">
            <a:spLocks/>
          </p:cNvSpPr>
          <p:nvPr/>
        </p:nvSpPr>
        <p:spPr>
          <a:xfrm>
            <a:off x="482728" y="468440"/>
            <a:ext cx="6727380" cy="1654665"/>
          </a:xfrm>
          <a:prstGeom prst="rect">
            <a:avLst/>
          </a:prstGeom>
        </p:spPr>
        <p:txBody>
          <a:bodyPr vert="horz" lIns="91440" tIns="45720" rIns="91440" bIns="45720" rtlCol="0">
            <a:normAutofit/>
          </a:bodyPr>
          <a:lstStyle>
            <a:lvl1pPr marL="342797" indent="-342797" algn="l" defTabSz="457063" rtl="0" eaLnBrk="1" latinLnBrk="0" hangingPunct="1">
              <a:spcBef>
                <a:spcPts val="1000"/>
              </a:spcBef>
              <a:spcAft>
                <a:spcPts val="0"/>
              </a:spcAft>
              <a:buClr>
                <a:schemeClr val="accent1"/>
              </a:buClr>
              <a:buSzPct val="80000"/>
              <a:buFont typeface="Wingdings 3" charset="2"/>
              <a:buChar char=""/>
              <a:defRPr sz="1799" kern="1200">
                <a:solidFill>
                  <a:schemeClr val="tx1">
                    <a:lumMod val="75000"/>
                    <a:lumOff val="25000"/>
                  </a:schemeClr>
                </a:solidFill>
                <a:latin typeface="+mn-lt"/>
                <a:ea typeface="+mn-ea"/>
                <a:cs typeface="+mn-cs"/>
              </a:defRPr>
            </a:lvl1pPr>
            <a:lvl2pPr marL="742727" indent="-285664" algn="l" defTabSz="457063"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2657" indent="-228531" algn="l" defTabSz="457063"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599720"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6783"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3846"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0908"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7971"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5034"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“The log-scaled histogram reveals a highly skewed enrollment distribution, where a few courses have very high enrollments while most courses attract comparatively fewer learners.”</a:t>
            </a:r>
          </a:p>
        </p:txBody>
      </p:sp>
      <p:pic>
        <p:nvPicPr>
          <p:cNvPr id="6" name="Content Placeholder 5">
            <a:extLst>
              <a:ext uri="{FF2B5EF4-FFF2-40B4-BE49-F238E27FC236}">
                <a16:creationId xmlns:a16="http://schemas.microsoft.com/office/drawing/2014/main" id="{F196EA40-304D-43A0-8942-A2CA3B926EE5}"/>
              </a:ext>
            </a:extLst>
          </p:cNvPr>
          <p:cNvPicPr>
            <a:picLocks noGrp="1" noChangeAspect="1"/>
          </p:cNvPicPr>
          <p:nvPr>
            <p:ph idx="1"/>
          </p:nvPr>
        </p:nvPicPr>
        <p:blipFill>
          <a:blip r:embed="rId2"/>
          <a:stretch>
            <a:fillRect/>
          </a:stretch>
        </p:blipFill>
        <p:spPr>
          <a:xfrm>
            <a:off x="7357241" y="2841095"/>
            <a:ext cx="4348856" cy="3568656"/>
          </a:xfrm>
        </p:spPr>
      </p:pic>
      <p:pic>
        <p:nvPicPr>
          <p:cNvPr id="13" name="Picture 12">
            <a:extLst>
              <a:ext uri="{FF2B5EF4-FFF2-40B4-BE49-F238E27FC236}">
                <a16:creationId xmlns:a16="http://schemas.microsoft.com/office/drawing/2014/main" id="{8F9D8312-08FA-4229-8814-57E8A7A2F6C4}"/>
              </a:ext>
            </a:extLst>
          </p:cNvPr>
          <p:cNvPicPr>
            <a:picLocks noChangeAspect="1"/>
          </p:cNvPicPr>
          <p:nvPr/>
        </p:nvPicPr>
        <p:blipFill>
          <a:blip r:embed="rId3"/>
          <a:stretch>
            <a:fillRect/>
          </a:stretch>
        </p:blipFill>
        <p:spPr>
          <a:xfrm>
            <a:off x="7357241" y="416134"/>
            <a:ext cx="4348856" cy="2337576"/>
          </a:xfrm>
          <a:prstGeom prst="rect">
            <a:avLst/>
          </a:prstGeom>
        </p:spPr>
      </p:pic>
    </p:spTree>
    <p:extLst>
      <p:ext uri="{BB962C8B-B14F-4D97-AF65-F5344CB8AC3E}">
        <p14:creationId xmlns:p14="http://schemas.microsoft.com/office/powerpoint/2010/main" val="1061854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E57B6E5B-D4B9-4A41-A4E7-9C086EDECE0F}"/>
              </a:ext>
            </a:extLst>
          </p:cNvPr>
          <p:cNvSpPr txBox="1">
            <a:spLocks/>
          </p:cNvSpPr>
          <p:nvPr/>
        </p:nvSpPr>
        <p:spPr>
          <a:xfrm>
            <a:off x="635127" y="972929"/>
            <a:ext cx="10379713" cy="3136615"/>
          </a:xfrm>
          <a:prstGeom prst="rect">
            <a:avLst/>
          </a:prstGeom>
        </p:spPr>
        <p:txBody>
          <a:bodyPr vert="horz" lIns="91440" tIns="45720" rIns="91440" bIns="45720" rtlCol="0">
            <a:normAutofit/>
          </a:bodyPr>
          <a:lstStyle>
            <a:lvl1pPr marL="342797" indent="-342797" algn="l" defTabSz="457063" rtl="0" eaLnBrk="1" latinLnBrk="0" hangingPunct="1">
              <a:spcBef>
                <a:spcPts val="1000"/>
              </a:spcBef>
              <a:spcAft>
                <a:spcPts val="0"/>
              </a:spcAft>
              <a:buClr>
                <a:schemeClr val="accent1"/>
              </a:buClr>
              <a:buSzPct val="80000"/>
              <a:buFont typeface="Wingdings 3" charset="2"/>
              <a:buChar char=""/>
              <a:defRPr sz="1799" kern="1200">
                <a:solidFill>
                  <a:schemeClr val="tx1">
                    <a:lumMod val="75000"/>
                    <a:lumOff val="25000"/>
                  </a:schemeClr>
                </a:solidFill>
                <a:latin typeface="+mn-lt"/>
                <a:ea typeface="+mn-ea"/>
                <a:cs typeface="+mn-cs"/>
              </a:defRPr>
            </a:lvl1pPr>
            <a:lvl2pPr marL="742727" indent="-285664" algn="l" defTabSz="457063"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2657" indent="-228531" algn="l" defTabSz="457063"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599720"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6783"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3846"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0908"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7971"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5034"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1600" b="1" dirty="0"/>
              <a:t>Feature Engineering Summary</a:t>
            </a:r>
          </a:p>
          <a:p>
            <a:pPr>
              <a:buFont typeface="Arial" panose="020B0604020202020204" pitchFamily="34" charset="0"/>
              <a:buChar char="•"/>
            </a:pPr>
            <a:r>
              <a:rPr lang="en-US" sz="1600" dirty="0"/>
              <a:t>Created a copy of the dataset to preserve the original data.</a:t>
            </a:r>
          </a:p>
          <a:p>
            <a:pPr>
              <a:buFont typeface="Arial" panose="020B0604020202020204" pitchFamily="34" charset="0"/>
              <a:buChar char="•"/>
            </a:pPr>
            <a:r>
              <a:rPr lang="en-US" sz="1600" dirty="0"/>
              <a:t>Converted Yes/No columns into numeric binary values (0 and 1) for modeling.</a:t>
            </a:r>
          </a:p>
          <a:p>
            <a:pPr>
              <a:buFont typeface="Arial" panose="020B0604020202020204" pitchFamily="34" charset="0"/>
              <a:buChar char="•"/>
            </a:pPr>
            <a:r>
              <a:rPr lang="en-US" sz="1600" dirty="0"/>
              <a:t>Mapped difficulty levels to ordinal numbers (Beginner=1, Intermediate=2, Advanced=3).</a:t>
            </a:r>
          </a:p>
          <a:p>
            <a:pPr>
              <a:buFont typeface="Arial" panose="020B0604020202020204" pitchFamily="34" charset="0"/>
              <a:buChar char="•"/>
            </a:pPr>
            <a:r>
              <a:rPr lang="en-US" sz="1600" dirty="0"/>
              <a:t>Developed an engagement score as a weighted sum of time spent, previous courses taken, and feedback.</a:t>
            </a:r>
          </a:p>
          <a:p>
            <a:pPr>
              <a:buFont typeface="Arial" panose="020B0604020202020204" pitchFamily="34" charset="0"/>
              <a:buChar char="•"/>
            </a:pPr>
            <a:r>
              <a:rPr lang="en-US" sz="1600" dirty="0"/>
              <a:t>Categorized course price and ratings into bins and applied label encoding to text columns for numeric representation.</a:t>
            </a:r>
          </a:p>
        </p:txBody>
      </p:sp>
      <p:pic>
        <p:nvPicPr>
          <p:cNvPr id="10" name="Picture 9">
            <a:extLst>
              <a:ext uri="{FF2B5EF4-FFF2-40B4-BE49-F238E27FC236}">
                <a16:creationId xmlns:a16="http://schemas.microsoft.com/office/drawing/2014/main" id="{07F840C7-72D5-479A-9B49-CC771A9F8032}"/>
              </a:ext>
            </a:extLst>
          </p:cNvPr>
          <p:cNvPicPr>
            <a:picLocks noChangeAspect="1"/>
          </p:cNvPicPr>
          <p:nvPr/>
        </p:nvPicPr>
        <p:blipFill>
          <a:blip r:embed="rId2"/>
          <a:stretch>
            <a:fillRect/>
          </a:stretch>
        </p:blipFill>
        <p:spPr>
          <a:xfrm>
            <a:off x="515007" y="4025462"/>
            <a:ext cx="10909738" cy="2743200"/>
          </a:xfrm>
          <a:prstGeom prst="rect">
            <a:avLst/>
          </a:prstGeom>
        </p:spPr>
      </p:pic>
    </p:spTree>
    <p:extLst>
      <p:ext uri="{BB962C8B-B14F-4D97-AF65-F5344CB8AC3E}">
        <p14:creationId xmlns:p14="http://schemas.microsoft.com/office/powerpoint/2010/main" val="2163632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7B72B-FDB2-4730-8C24-9BB2C435627D}"/>
              </a:ext>
            </a:extLst>
          </p:cNvPr>
          <p:cNvSpPr>
            <a:spLocks noGrp="1"/>
          </p:cNvSpPr>
          <p:nvPr>
            <p:ph type="title"/>
          </p:nvPr>
        </p:nvSpPr>
        <p:spPr>
          <a:xfrm>
            <a:off x="4183117" y="2785241"/>
            <a:ext cx="4529959" cy="1639614"/>
          </a:xfrm>
        </p:spPr>
        <p:txBody>
          <a:bodyPr/>
          <a:lstStyle/>
          <a:p>
            <a:r>
              <a:rPr lang="en-US" b="1" dirty="0"/>
              <a:t>Model Building</a:t>
            </a:r>
          </a:p>
        </p:txBody>
      </p:sp>
      <p:cxnSp>
        <p:nvCxnSpPr>
          <p:cNvPr id="4" name="Straight Arrow Connector 3">
            <a:extLst>
              <a:ext uri="{FF2B5EF4-FFF2-40B4-BE49-F238E27FC236}">
                <a16:creationId xmlns:a16="http://schemas.microsoft.com/office/drawing/2014/main" id="{7520AAE6-2B8D-4836-8864-512C5D461D2B}"/>
              </a:ext>
            </a:extLst>
          </p:cNvPr>
          <p:cNvCxnSpPr>
            <a:cxnSpLocks/>
          </p:cNvCxnSpPr>
          <p:nvPr/>
        </p:nvCxnSpPr>
        <p:spPr>
          <a:xfrm>
            <a:off x="7819697" y="2975404"/>
            <a:ext cx="0" cy="3869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06307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A19181AC-AD64-45FA-A563-09994B4D3812}"/>
              </a:ext>
            </a:extLst>
          </p:cNvPr>
          <p:cNvSpPr txBox="1">
            <a:spLocks/>
          </p:cNvSpPr>
          <p:nvPr/>
        </p:nvSpPr>
        <p:spPr>
          <a:xfrm>
            <a:off x="635127" y="4403835"/>
            <a:ext cx="7011159" cy="1897112"/>
          </a:xfrm>
          <a:prstGeom prst="rect">
            <a:avLst/>
          </a:prstGeom>
        </p:spPr>
        <p:txBody>
          <a:bodyPr vert="horz" lIns="91440" tIns="45720" rIns="91440" bIns="45720" rtlCol="0">
            <a:normAutofit fontScale="62500" lnSpcReduction="20000"/>
          </a:bodyPr>
          <a:lstStyle>
            <a:lvl1pPr marL="342797" indent="-342797" algn="l" defTabSz="457063" rtl="0" eaLnBrk="1" latinLnBrk="0" hangingPunct="1">
              <a:spcBef>
                <a:spcPts val="1000"/>
              </a:spcBef>
              <a:spcAft>
                <a:spcPts val="0"/>
              </a:spcAft>
              <a:buClr>
                <a:schemeClr val="accent1"/>
              </a:buClr>
              <a:buSzPct val="80000"/>
              <a:buFont typeface="Wingdings 3" charset="2"/>
              <a:buChar char=""/>
              <a:defRPr sz="1799" kern="1200">
                <a:solidFill>
                  <a:schemeClr val="tx1">
                    <a:lumMod val="75000"/>
                    <a:lumOff val="25000"/>
                  </a:schemeClr>
                </a:solidFill>
                <a:latin typeface="+mn-lt"/>
                <a:ea typeface="+mn-ea"/>
                <a:cs typeface="+mn-cs"/>
              </a:defRPr>
            </a:lvl1pPr>
            <a:lvl2pPr marL="742727" indent="-285664" algn="l" defTabSz="457063"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2657" indent="-228531" algn="l" defTabSz="457063"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599720"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6783"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3846"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0908"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7971"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5034"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b="1" dirty="0"/>
              <a:t>Hybrid Recommender </a:t>
            </a:r>
          </a:p>
          <a:p>
            <a:pPr>
              <a:buFont typeface="Arial" panose="020B0604020202020204" pitchFamily="34" charset="0"/>
              <a:buChar char="•"/>
            </a:pPr>
            <a:r>
              <a:rPr lang="en-US" dirty="0"/>
              <a:t>Combines </a:t>
            </a:r>
            <a:r>
              <a:rPr lang="en-US" b="1" dirty="0"/>
              <a:t>Content-Based</a:t>
            </a:r>
            <a:r>
              <a:rPr lang="en-US" dirty="0"/>
              <a:t> and </a:t>
            </a:r>
            <a:r>
              <a:rPr lang="en-US" b="1" dirty="0"/>
              <a:t>Collaborative Filtering</a:t>
            </a:r>
            <a:r>
              <a:rPr lang="en-US" dirty="0"/>
              <a:t> recommendations for improved accuracy.</a:t>
            </a:r>
          </a:p>
          <a:p>
            <a:pPr>
              <a:buFont typeface="Arial" panose="020B0604020202020204" pitchFamily="34" charset="0"/>
              <a:buChar char="•"/>
            </a:pPr>
            <a:r>
              <a:rPr lang="en-US" dirty="0"/>
              <a:t>Uses a weighted approach controlled by </a:t>
            </a:r>
            <a:r>
              <a:rPr lang="en-US" b="1" dirty="0"/>
              <a:t>alpha</a:t>
            </a:r>
            <a:r>
              <a:rPr lang="en-US" dirty="0"/>
              <a:t> to balance content and user similarity scores.</a:t>
            </a:r>
          </a:p>
          <a:p>
            <a:pPr>
              <a:buFont typeface="Arial" panose="020B0604020202020204" pitchFamily="34" charset="0"/>
              <a:buChar char="•"/>
            </a:pPr>
            <a:r>
              <a:rPr lang="en-US" dirty="0"/>
              <a:t>Content-based recommendations leverage the user’s most recent course preferences.</a:t>
            </a:r>
          </a:p>
          <a:p>
            <a:pPr>
              <a:buFont typeface="Arial" panose="020B0604020202020204" pitchFamily="34" charset="0"/>
              <a:buChar char="•"/>
            </a:pPr>
            <a:r>
              <a:rPr lang="en-US" dirty="0"/>
              <a:t>Collaborative recommendations consider ratings from similar users via user KNN.</a:t>
            </a:r>
          </a:p>
          <a:p>
            <a:pPr>
              <a:buFont typeface="Arial" panose="020B0604020202020204" pitchFamily="34" charset="0"/>
              <a:buChar char="•"/>
            </a:pPr>
            <a:r>
              <a:rPr lang="en-US" dirty="0"/>
              <a:t>Aggregates and ranks scores from both methods to provide top-N personalized course recommendations.</a:t>
            </a:r>
          </a:p>
        </p:txBody>
      </p:sp>
      <p:sp>
        <p:nvSpPr>
          <p:cNvPr id="9" name="Content Placeholder 2">
            <a:extLst>
              <a:ext uri="{FF2B5EF4-FFF2-40B4-BE49-F238E27FC236}">
                <a16:creationId xmlns:a16="http://schemas.microsoft.com/office/drawing/2014/main" id="{E57B6E5B-D4B9-4A41-A4E7-9C086EDECE0F}"/>
              </a:ext>
            </a:extLst>
          </p:cNvPr>
          <p:cNvSpPr txBox="1">
            <a:spLocks/>
          </p:cNvSpPr>
          <p:nvPr/>
        </p:nvSpPr>
        <p:spPr>
          <a:xfrm>
            <a:off x="635127" y="426396"/>
            <a:ext cx="7499879" cy="1654665"/>
          </a:xfrm>
          <a:prstGeom prst="rect">
            <a:avLst/>
          </a:prstGeom>
        </p:spPr>
        <p:txBody>
          <a:bodyPr vert="horz" lIns="91440" tIns="45720" rIns="91440" bIns="45720" rtlCol="0">
            <a:normAutofit fontScale="62500" lnSpcReduction="20000"/>
          </a:bodyPr>
          <a:lstStyle>
            <a:lvl1pPr marL="342797" indent="-342797" algn="l" defTabSz="457063" rtl="0" eaLnBrk="1" latinLnBrk="0" hangingPunct="1">
              <a:spcBef>
                <a:spcPts val="1000"/>
              </a:spcBef>
              <a:spcAft>
                <a:spcPts val="0"/>
              </a:spcAft>
              <a:buClr>
                <a:schemeClr val="accent1"/>
              </a:buClr>
              <a:buSzPct val="80000"/>
              <a:buFont typeface="Wingdings 3" charset="2"/>
              <a:buChar char=""/>
              <a:defRPr sz="1799" kern="1200">
                <a:solidFill>
                  <a:schemeClr val="tx1">
                    <a:lumMod val="75000"/>
                    <a:lumOff val="25000"/>
                  </a:schemeClr>
                </a:solidFill>
                <a:latin typeface="+mn-lt"/>
                <a:ea typeface="+mn-ea"/>
                <a:cs typeface="+mn-cs"/>
              </a:defRPr>
            </a:lvl1pPr>
            <a:lvl2pPr marL="742727" indent="-285664" algn="l" defTabSz="457063"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2657" indent="-228531" algn="l" defTabSz="457063"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599720"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6783"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3846"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0908"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7971"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5034"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b="1" dirty="0"/>
              <a:t>Content-Based Filtering</a:t>
            </a:r>
          </a:p>
          <a:p>
            <a:pPr>
              <a:buFont typeface="Arial" panose="020B0604020202020204" pitchFamily="34" charset="0"/>
              <a:buChar char="•"/>
            </a:pPr>
            <a:r>
              <a:rPr lang="en-US" dirty="0"/>
              <a:t>Combined course name, difficulty level, and rating category into a single text feature for similarity analysis.</a:t>
            </a:r>
          </a:p>
          <a:p>
            <a:pPr>
              <a:buFont typeface="Arial" panose="020B0604020202020204" pitchFamily="34" charset="0"/>
              <a:buChar char="•"/>
            </a:pPr>
            <a:r>
              <a:rPr lang="en-US" dirty="0"/>
              <a:t>Applied TF-IDF vectorization to convert text data into numerical feature vectors.</a:t>
            </a:r>
          </a:p>
          <a:p>
            <a:pPr>
              <a:buFont typeface="Arial" panose="020B0604020202020204" pitchFamily="34" charset="0"/>
              <a:buChar char="•"/>
            </a:pPr>
            <a:r>
              <a:rPr lang="en-US" dirty="0"/>
              <a:t>Used cosine similarity with K-Nearest Neighbors to find courses similar to a given course.</a:t>
            </a:r>
          </a:p>
          <a:p>
            <a:pPr>
              <a:buFont typeface="Arial" panose="020B0604020202020204" pitchFamily="34" charset="0"/>
              <a:buChar char="•"/>
            </a:pPr>
            <a:r>
              <a:rPr lang="en-US" dirty="0"/>
              <a:t>Indexed courses by their names for quick and interpretable lookup during recommendations.</a:t>
            </a:r>
          </a:p>
          <a:p>
            <a:pPr>
              <a:buFont typeface="Arial" panose="020B0604020202020204" pitchFamily="34" charset="0"/>
              <a:buChar char="•"/>
            </a:pPr>
            <a:r>
              <a:rPr lang="en-US" dirty="0"/>
              <a:t>Returned top-N similar courses based on textual similarity of course attributes.</a:t>
            </a:r>
          </a:p>
        </p:txBody>
      </p:sp>
      <p:sp>
        <p:nvSpPr>
          <p:cNvPr id="3" name="Content Placeholder 2">
            <a:extLst>
              <a:ext uri="{FF2B5EF4-FFF2-40B4-BE49-F238E27FC236}">
                <a16:creationId xmlns:a16="http://schemas.microsoft.com/office/drawing/2014/main" id="{51A753AD-20D8-4DD7-A542-042025CD0F54}"/>
              </a:ext>
            </a:extLst>
          </p:cNvPr>
          <p:cNvSpPr>
            <a:spLocks noGrp="1"/>
          </p:cNvSpPr>
          <p:nvPr>
            <p:ph idx="1"/>
          </p:nvPr>
        </p:nvSpPr>
        <p:spPr>
          <a:xfrm>
            <a:off x="635127" y="2160590"/>
            <a:ext cx="7163559" cy="2058105"/>
          </a:xfrm>
        </p:spPr>
        <p:txBody>
          <a:bodyPr>
            <a:normAutofit fontScale="70000" lnSpcReduction="20000"/>
          </a:bodyPr>
          <a:lstStyle/>
          <a:p>
            <a:r>
              <a:rPr lang="en-US" b="1" dirty="0"/>
              <a:t>Collaborative Filtering </a:t>
            </a:r>
          </a:p>
          <a:p>
            <a:pPr>
              <a:buFont typeface="Arial" panose="020B0604020202020204" pitchFamily="34" charset="0"/>
              <a:buChar char="•"/>
            </a:pPr>
            <a:r>
              <a:rPr lang="en-US" dirty="0"/>
              <a:t>Built a user-item rating matrix with users as rows and courses as columns.</a:t>
            </a:r>
          </a:p>
          <a:p>
            <a:pPr>
              <a:buFont typeface="Arial" panose="020B0604020202020204" pitchFamily="34" charset="0"/>
              <a:buChar char="•"/>
            </a:pPr>
            <a:r>
              <a:rPr lang="en-US" dirty="0"/>
              <a:t>Applied K-Nearest Neighbors using cosine similarity to find users with similar preferences.</a:t>
            </a:r>
          </a:p>
          <a:p>
            <a:pPr>
              <a:buFont typeface="Arial" panose="020B0604020202020204" pitchFamily="34" charset="0"/>
              <a:buChar char="•"/>
            </a:pPr>
            <a:r>
              <a:rPr lang="en-US" dirty="0"/>
              <a:t>Calculated weighted recommendation scores based on ratings from similar users, weighted by similarity.</a:t>
            </a:r>
          </a:p>
          <a:p>
            <a:pPr>
              <a:buFont typeface="Arial" panose="020B0604020202020204" pitchFamily="34" charset="0"/>
              <a:buChar char="•"/>
            </a:pPr>
            <a:r>
              <a:rPr lang="en-US" dirty="0"/>
              <a:t>Filtered out courses already rated by the target user to recommend new courses.</a:t>
            </a:r>
          </a:p>
          <a:p>
            <a:pPr>
              <a:buFont typeface="Arial" panose="020B0604020202020204" pitchFamily="34" charset="0"/>
              <a:buChar char="•"/>
            </a:pPr>
            <a:r>
              <a:rPr lang="en-US" dirty="0"/>
              <a:t>Returned top-N personalized course recommendations based on collaborative filtering.</a:t>
            </a:r>
          </a:p>
          <a:p>
            <a:endParaRPr lang="en-US" dirty="0"/>
          </a:p>
        </p:txBody>
      </p:sp>
      <p:pic>
        <p:nvPicPr>
          <p:cNvPr id="11" name="Content Placeholder 4">
            <a:extLst>
              <a:ext uri="{FF2B5EF4-FFF2-40B4-BE49-F238E27FC236}">
                <a16:creationId xmlns:a16="http://schemas.microsoft.com/office/drawing/2014/main" id="{5F3DBB77-3935-4D57-8A46-72D3D4A760FA}"/>
              </a:ext>
            </a:extLst>
          </p:cNvPr>
          <p:cNvPicPr>
            <a:picLocks noChangeAspect="1"/>
          </p:cNvPicPr>
          <p:nvPr/>
        </p:nvPicPr>
        <p:blipFill>
          <a:blip r:embed="rId2"/>
          <a:stretch>
            <a:fillRect/>
          </a:stretch>
        </p:blipFill>
        <p:spPr>
          <a:xfrm>
            <a:off x="7987862" y="4218695"/>
            <a:ext cx="3920358" cy="2297719"/>
          </a:xfrm>
          <a:prstGeom prst="rect">
            <a:avLst/>
          </a:prstGeom>
        </p:spPr>
      </p:pic>
      <p:pic>
        <p:nvPicPr>
          <p:cNvPr id="12" name="Picture 11">
            <a:extLst>
              <a:ext uri="{FF2B5EF4-FFF2-40B4-BE49-F238E27FC236}">
                <a16:creationId xmlns:a16="http://schemas.microsoft.com/office/drawing/2014/main" id="{48922C21-8CAC-4A72-B036-C062583554E8}"/>
              </a:ext>
            </a:extLst>
          </p:cNvPr>
          <p:cNvPicPr>
            <a:picLocks noChangeAspect="1"/>
          </p:cNvPicPr>
          <p:nvPr/>
        </p:nvPicPr>
        <p:blipFill>
          <a:blip r:embed="rId3"/>
          <a:stretch>
            <a:fillRect/>
          </a:stretch>
        </p:blipFill>
        <p:spPr>
          <a:xfrm>
            <a:off x="7987860" y="2097683"/>
            <a:ext cx="3920359" cy="2081248"/>
          </a:xfrm>
          <a:prstGeom prst="rect">
            <a:avLst/>
          </a:prstGeom>
        </p:spPr>
      </p:pic>
      <p:sp>
        <p:nvSpPr>
          <p:cNvPr id="17" name="Content Placeholder 2">
            <a:extLst>
              <a:ext uri="{FF2B5EF4-FFF2-40B4-BE49-F238E27FC236}">
                <a16:creationId xmlns:a16="http://schemas.microsoft.com/office/drawing/2014/main" id="{399A4183-CB48-48B7-B498-AF3F9D29718C}"/>
              </a:ext>
            </a:extLst>
          </p:cNvPr>
          <p:cNvSpPr txBox="1">
            <a:spLocks/>
          </p:cNvSpPr>
          <p:nvPr/>
        </p:nvSpPr>
        <p:spPr>
          <a:xfrm>
            <a:off x="482728" y="4646281"/>
            <a:ext cx="6574980" cy="1654665"/>
          </a:xfrm>
          <a:prstGeom prst="rect">
            <a:avLst/>
          </a:prstGeom>
        </p:spPr>
        <p:txBody>
          <a:bodyPr vert="horz" lIns="91440" tIns="45720" rIns="91440" bIns="45720" rtlCol="0">
            <a:normAutofit/>
          </a:bodyPr>
          <a:lstStyle>
            <a:lvl1pPr marL="342797" indent="-342797" algn="l" defTabSz="457063" rtl="0" eaLnBrk="1" latinLnBrk="0" hangingPunct="1">
              <a:spcBef>
                <a:spcPts val="1000"/>
              </a:spcBef>
              <a:spcAft>
                <a:spcPts val="0"/>
              </a:spcAft>
              <a:buClr>
                <a:schemeClr val="accent1"/>
              </a:buClr>
              <a:buSzPct val="80000"/>
              <a:buFont typeface="Wingdings 3" charset="2"/>
              <a:buChar char=""/>
              <a:defRPr sz="1799" kern="1200">
                <a:solidFill>
                  <a:schemeClr val="tx1">
                    <a:lumMod val="75000"/>
                    <a:lumOff val="25000"/>
                  </a:schemeClr>
                </a:solidFill>
                <a:latin typeface="+mn-lt"/>
                <a:ea typeface="+mn-ea"/>
                <a:cs typeface="+mn-cs"/>
              </a:defRPr>
            </a:lvl1pPr>
            <a:lvl2pPr marL="742727" indent="-285664" algn="l" defTabSz="457063"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2657" indent="-228531" algn="l" defTabSz="457063"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599720"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6783"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3846"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0908"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7971"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5034" indent="-228531" algn="l" defTabSz="457063"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US" dirty="0"/>
          </a:p>
        </p:txBody>
      </p:sp>
      <p:pic>
        <p:nvPicPr>
          <p:cNvPr id="18" name="Content Placeholder 4">
            <a:extLst>
              <a:ext uri="{FF2B5EF4-FFF2-40B4-BE49-F238E27FC236}">
                <a16:creationId xmlns:a16="http://schemas.microsoft.com/office/drawing/2014/main" id="{02D12665-7AA1-40D8-A0E8-96A3B34780D7}"/>
              </a:ext>
            </a:extLst>
          </p:cNvPr>
          <p:cNvPicPr>
            <a:picLocks noChangeAspect="1"/>
          </p:cNvPicPr>
          <p:nvPr/>
        </p:nvPicPr>
        <p:blipFill>
          <a:blip r:embed="rId4"/>
          <a:stretch>
            <a:fillRect/>
          </a:stretch>
        </p:blipFill>
        <p:spPr>
          <a:xfrm>
            <a:off x="7987861" y="70265"/>
            <a:ext cx="3920359" cy="1987652"/>
          </a:xfrm>
          <a:prstGeom prst="rect">
            <a:avLst/>
          </a:prstGeom>
        </p:spPr>
      </p:pic>
    </p:spTree>
    <p:extLst>
      <p:ext uri="{BB962C8B-B14F-4D97-AF65-F5344CB8AC3E}">
        <p14:creationId xmlns:p14="http://schemas.microsoft.com/office/powerpoint/2010/main" val="4017416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BAF39-C681-4649-BA86-9FA3EE96503C}"/>
              </a:ext>
            </a:extLst>
          </p:cNvPr>
          <p:cNvSpPr>
            <a:spLocks noGrp="1"/>
          </p:cNvSpPr>
          <p:nvPr>
            <p:ph type="title"/>
          </p:nvPr>
        </p:nvSpPr>
        <p:spPr>
          <a:xfrm>
            <a:off x="2190638" y="10522"/>
            <a:ext cx="7920304" cy="861848"/>
          </a:xfrm>
        </p:spPr>
        <p:txBody>
          <a:bodyPr>
            <a:normAutofit fontScale="90000"/>
          </a:bodyPr>
          <a:lstStyle/>
          <a:p>
            <a:r>
              <a:rPr lang="en-US" dirty="0" err="1"/>
              <a:t>Streamlit</a:t>
            </a:r>
            <a:r>
              <a:rPr lang="en-US" dirty="0"/>
              <a:t> AI Course Recommender App</a:t>
            </a:r>
          </a:p>
        </p:txBody>
      </p:sp>
      <p:pic>
        <p:nvPicPr>
          <p:cNvPr id="5" name="Content Placeholder 4">
            <a:extLst>
              <a:ext uri="{FF2B5EF4-FFF2-40B4-BE49-F238E27FC236}">
                <a16:creationId xmlns:a16="http://schemas.microsoft.com/office/drawing/2014/main" id="{79488E8D-8D91-44D4-924F-23510E667919}"/>
              </a:ext>
            </a:extLst>
          </p:cNvPr>
          <p:cNvPicPr>
            <a:picLocks noGrp="1" noChangeAspect="1"/>
          </p:cNvPicPr>
          <p:nvPr>
            <p:ph idx="1"/>
          </p:nvPr>
        </p:nvPicPr>
        <p:blipFill>
          <a:blip r:embed="rId2"/>
          <a:stretch>
            <a:fillRect/>
          </a:stretch>
        </p:blipFill>
        <p:spPr>
          <a:xfrm>
            <a:off x="7231118" y="1596944"/>
            <a:ext cx="4849748" cy="3881437"/>
          </a:xfrm>
        </p:spPr>
      </p:pic>
      <p:sp>
        <p:nvSpPr>
          <p:cNvPr id="7" name="Rectangle 1">
            <a:extLst>
              <a:ext uri="{FF2B5EF4-FFF2-40B4-BE49-F238E27FC236}">
                <a16:creationId xmlns:a16="http://schemas.microsoft.com/office/drawing/2014/main" id="{BD91138E-E1FA-4C2C-98E6-546E76BF240F}"/>
              </a:ext>
            </a:extLst>
          </p:cNvPr>
          <p:cNvSpPr>
            <a:spLocks noChangeArrowheads="1"/>
          </p:cNvSpPr>
          <p:nvPr/>
        </p:nvSpPr>
        <p:spPr bwMode="auto">
          <a:xfrm rot="10800000" flipV="1">
            <a:off x="220715" y="672036"/>
            <a:ext cx="7588471"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Secure User Authentication &amp; Roles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Users must </a:t>
            </a:r>
            <a:r>
              <a:rPr kumimoji="0" lang="en-US" altLang="en-US" sz="1800" b="1" i="0" u="none" strike="noStrike" cap="none" normalizeH="0" baseline="0" dirty="0">
                <a:ln>
                  <a:noFill/>
                </a:ln>
                <a:solidFill>
                  <a:schemeClr val="tx1"/>
                </a:solidFill>
                <a:effectLst/>
                <a:latin typeface="Arial" panose="020B0604020202020204" pitchFamily="34" charset="0"/>
              </a:rPr>
              <a:t>login</a:t>
            </a:r>
            <a:r>
              <a:rPr kumimoji="0" lang="en-US" altLang="en-US" sz="1800" b="0" i="0" u="none" strike="noStrike" cap="none" normalizeH="0" baseline="0" dirty="0">
                <a:ln>
                  <a:noFill/>
                </a:ln>
                <a:solidFill>
                  <a:schemeClr val="tx1"/>
                </a:solidFill>
                <a:effectLst/>
                <a:latin typeface="Arial" panose="020B0604020202020204" pitchFamily="34" charset="0"/>
              </a:rPr>
              <a:t> with </a:t>
            </a:r>
            <a:r>
              <a:rPr kumimoji="0" lang="en-US" altLang="en-US" sz="1800" b="1" i="0" u="none" strike="noStrike" cap="none" normalizeH="0" baseline="0" dirty="0">
                <a:ln>
                  <a:noFill/>
                </a:ln>
                <a:solidFill>
                  <a:schemeClr val="tx1"/>
                </a:solidFill>
                <a:effectLst/>
                <a:latin typeface="Arial" panose="020B0604020202020204" pitchFamily="34" charset="0"/>
              </a:rPr>
              <a:t>User ID (admin)</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Password</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admin123</a:t>
            </a:r>
            <a:r>
              <a:rPr kumimoji="0" lang="en-US" altLang="en-US" sz="1800" b="0" i="0" u="none" strike="noStrike" cap="none" normalizeH="0" baseline="0" dirty="0">
                <a:ln>
                  <a:noFill/>
                </a:ln>
                <a:solidFill>
                  <a:schemeClr val="tx1"/>
                </a:solidFill>
                <a:effectLst/>
                <a:latin typeface="Arial" panose="020B0604020202020204" pitchFamily="34" charset="0"/>
              </a:rPr>
              <a:t>). Supports different roles like </a:t>
            </a:r>
            <a:r>
              <a:rPr kumimoji="0" lang="en-US" altLang="en-US" sz="1800" b="1" i="0" u="none" strike="noStrike" cap="none" normalizeH="0" baseline="0" dirty="0">
                <a:ln>
                  <a:noFill/>
                </a:ln>
                <a:solidFill>
                  <a:schemeClr val="tx1"/>
                </a:solidFill>
                <a:effectLst/>
                <a:latin typeface="Arial" panose="020B0604020202020204" pitchFamily="34" charset="0"/>
              </a:rPr>
              <a:t>user</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admin</a:t>
            </a:r>
            <a:r>
              <a:rPr kumimoji="0" lang="en-US" altLang="en-US" sz="1800" b="0" i="0" u="none" strike="noStrike" cap="none" normalizeH="0" baseline="0" dirty="0">
                <a:ln>
                  <a:noFill/>
                </a:ln>
                <a:solidFill>
                  <a:schemeClr val="tx1"/>
                </a:solidFill>
                <a:effectLst/>
                <a:latin typeface="Arial" panose="020B0604020202020204" pitchFamily="34" charset="0"/>
              </a:rPr>
              <a:t> for controlled access.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Smart Hybrid Recommendation Engine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Personalized course suggestions combining </a:t>
            </a:r>
            <a:r>
              <a:rPr kumimoji="0" lang="en-US" altLang="en-US" sz="1800" b="1" i="0" u="none" strike="noStrike" cap="none" normalizeH="0" baseline="0" dirty="0">
                <a:ln>
                  <a:noFill/>
                </a:ln>
                <a:solidFill>
                  <a:schemeClr val="tx1"/>
                </a:solidFill>
                <a:effectLst/>
                <a:latin typeface="Arial" panose="020B0604020202020204" pitchFamily="34" charset="0"/>
              </a:rPr>
              <a:t>Content-Based</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Collaborative</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Hybrid</a:t>
            </a:r>
            <a:r>
              <a:rPr kumimoji="0" lang="en-US" altLang="en-US" sz="1800" b="0" i="0" u="none" strike="noStrike" cap="none" normalizeH="0" baseline="0" dirty="0">
                <a:ln>
                  <a:noFill/>
                </a:ln>
                <a:solidFill>
                  <a:schemeClr val="tx1"/>
                </a:solidFill>
                <a:effectLst/>
                <a:latin typeface="Arial" panose="020B0604020202020204" pitchFamily="34" charset="0"/>
              </a:rPr>
              <a:t> algorithms for best results.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User-Friendly Multi-Page Interface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Seamless navigation across </a:t>
            </a:r>
            <a:r>
              <a:rPr kumimoji="0" lang="en-US" altLang="en-US" sz="1800" b="1" i="0" u="none" strike="noStrike" cap="none" normalizeH="0" baseline="0" dirty="0">
                <a:ln>
                  <a:noFill/>
                </a:ln>
                <a:solidFill>
                  <a:schemeClr val="tx1"/>
                </a:solidFill>
                <a:effectLst/>
                <a:latin typeface="Arial" panose="020B0604020202020204" pitchFamily="34" charset="0"/>
              </a:rPr>
              <a:t>Home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Recommender</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Analytics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Feedback Dashboard</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About</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Admin</a:t>
            </a:r>
            <a:r>
              <a:rPr kumimoji="0" lang="en-US" altLang="en-US" sz="1800" b="0" i="0" u="none" strike="noStrike" cap="none" normalizeH="0" baseline="0" dirty="0">
                <a:ln>
                  <a:noFill/>
                </a:ln>
                <a:solidFill>
                  <a:schemeClr val="tx1"/>
                </a:solidFill>
                <a:effectLst/>
                <a:latin typeface="Arial" panose="020B0604020202020204" pitchFamily="34" charset="0"/>
              </a:rPr>
              <a:t> pages.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Interactive Course Display &amp; Analytics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Beautiful course cards with images, instructor info, ratings, difficulty levels, plus detailed analytics on courses &amp; instructors.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User Feedback Management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Collects, stores, and displays real-time feedback with ratings and comments; admins can monitor and respond efficiently.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PDF Report Generation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Creates downloadable, well-formatted PDF reports of personalized recommendations using </a:t>
            </a:r>
            <a:r>
              <a:rPr kumimoji="0" lang="en-US" altLang="en-US" sz="1800" b="1" i="0" u="none" strike="noStrike" cap="none" normalizeH="0" baseline="0" dirty="0" err="1">
                <a:ln>
                  <a:noFill/>
                </a:ln>
                <a:solidFill>
                  <a:schemeClr val="tx1"/>
                </a:solidFill>
                <a:effectLst/>
                <a:latin typeface="Arial" panose="020B0604020202020204" pitchFamily="34" charset="0"/>
              </a:rPr>
              <a:t>reportlab</a:t>
            </a:r>
            <a:r>
              <a:rPr kumimoji="0" lang="en-US" altLang="en-US" sz="1800" b="0" i="0" u="none" strike="noStrike" cap="none" normalizeH="0" baseline="0" dirty="0">
                <a:ln>
                  <a:noFill/>
                </a:ln>
                <a:solidFill>
                  <a:schemeClr val="tx1"/>
                </a:solidFill>
                <a:effectLst/>
                <a:latin typeface="Arial" panose="020B0604020202020204" pitchFamily="34" charset="0"/>
              </a:rPr>
              <a:t> or </a:t>
            </a:r>
            <a:r>
              <a:rPr kumimoji="0" lang="en-US" altLang="en-US" sz="1800" b="1" i="0" u="none" strike="noStrike" cap="none" normalizeH="0" baseline="0" dirty="0" err="1">
                <a:ln>
                  <a:noFill/>
                </a:ln>
                <a:solidFill>
                  <a:schemeClr val="tx1"/>
                </a:solidFill>
                <a:effectLst/>
                <a:latin typeface="Arial" panose="020B0604020202020204" pitchFamily="34" charset="0"/>
              </a:rPr>
              <a:t>fpdf</a:t>
            </a:r>
            <a:r>
              <a:rPr kumimoji="0" lang="en-US" altLang="en-US" sz="1800" b="0" i="0" u="none" strike="noStrike" cap="none" normalizeH="0" baseline="0" dirty="0">
                <a:ln>
                  <a:noFill/>
                </a:ln>
                <a:solidFill>
                  <a:schemeClr val="tx1"/>
                </a:solidFill>
                <a:effectLst/>
                <a:latin typeface="Arial" panose="020B0604020202020204" pitchFamily="34" charset="0"/>
              </a:rPr>
              <a:t> libraries.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Robust Data Handling &amp; Model Loading</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Safely loads models &amp; data, includes defensive checks to handle missing info, ensuring smooth user experience without crashes.</a:t>
            </a:r>
          </a:p>
        </p:txBody>
      </p:sp>
    </p:spTree>
    <p:extLst>
      <p:ext uri="{BB962C8B-B14F-4D97-AF65-F5344CB8AC3E}">
        <p14:creationId xmlns:p14="http://schemas.microsoft.com/office/powerpoint/2010/main" val="37382069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68187" y="25026"/>
            <a:ext cx="3177937" cy="542533"/>
          </a:xfrm>
        </p:spPr>
        <p:txBody>
          <a:bodyPr>
            <a:normAutofit/>
          </a:bodyPr>
          <a:lstStyle/>
          <a:p>
            <a:r>
              <a:rPr lang="en-US" sz="2800" b="1" dirty="0"/>
              <a:t>Final Conclusion</a:t>
            </a:r>
            <a:endParaRPr sz="2800" b="1" dirty="0"/>
          </a:p>
        </p:txBody>
      </p:sp>
      <p:cxnSp>
        <p:nvCxnSpPr>
          <p:cNvPr id="11" name="Straight Arrow Connector 10">
            <a:extLst>
              <a:ext uri="{FF2B5EF4-FFF2-40B4-BE49-F238E27FC236}">
                <a16:creationId xmlns:a16="http://schemas.microsoft.com/office/drawing/2014/main" id="{669B5382-ABFD-47F6-BCDB-D07B3B0600AA}"/>
              </a:ext>
            </a:extLst>
          </p:cNvPr>
          <p:cNvCxnSpPr/>
          <p:nvPr/>
        </p:nvCxnSpPr>
        <p:spPr>
          <a:xfrm>
            <a:off x="7620000" y="115614"/>
            <a:ext cx="0" cy="3573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BCB7B2B-9C26-4A7E-9EA2-22D2E829E516}"/>
              </a:ext>
            </a:extLst>
          </p:cNvPr>
          <p:cNvSpPr txBox="1"/>
          <p:nvPr/>
        </p:nvSpPr>
        <p:spPr>
          <a:xfrm>
            <a:off x="1177539" y="1192556"/>
            <a:ext cx="9952916" cy="4524315"/>
          </a:xfrm>
          <a:prstGeom prst="rect">
            <a:avLst/>
          </a:prstGeom>
          <a:noFill/>
        </p:spPr>
        <p:txBody>
          <a:bodyPr wrap="square" rtlCol="0">
            <a:spAutoFit/>
          </a:bodyPr>
          <a:lstStyle/>
          <a:p>
            <a:pPr marL="285750" indent="-285750">
              <a:buClr>
                <a:schemeClr val="accent1"/>
              </a:buClr>
              <a:buFont typeface="Wingdings" panose="05000000000000000000" pitchFamily="2" charset="2"/>
              <a:buChar char="Ø"/>
            </a:pPr>
            <a:r>
              <a:rPr lang="en-US" dirty="0"/>
              <a:t>The developed AI-driven course recommendation system demonstrates a comprehensive and effective approach to personalized learning. By seamlessly integrating </a:t>
            </a:r>
            <a:r>
              <a:rPr lang="en-US" b="1" dirty="0"/>
              <a:t>content-based filtering</a:t>
            </a:r>
            <a:r>
              <a:rPr lang="en-US" dirty="0"/>
              <a:t>, which leverages course features, and </a:t>
            </a:r>
            <a:r>
              <a:rPr lang="en-US" b="1" dirty="0"/>
              <a:t>collaborative filtering</a:t>
            </a:r>
            <a:r>
              <a:rPr lang="en-US" dirty="0"/>
              <a:t>, which utilizes user interaction and preferences, the system provides highly relevant and customized course suggestions. The hybrid model effectively balances both strategies, enhancing recommendation accuracy and user satisfaction.</a:t>
            </a:r>
          </a:p>
          <a:p>
            <a:pPr marL="285750" indent="-285750">
              <a:buClr>
                <a:schemeClr val="accent1">
                  <a:lumMod val="75000"/>
                </a:schemeClr>
              </a:buClr>
              <a:buFont typeface="Wingdings" panose="05000000000000000000" pitchFamily="2" charset="2"/>
              <a:buChar char="Ø"/>
            </a:pPr>
            <a:r>
              <a:rPr lang="en-US" dirty="0"/>
              <a:t>The solution is strengthened by a secure user authentication system, enabling personalized experiences and protecting user data. It also incorporates a feedback mechanism, allowing continuous improvement of recommendations based on real user input. Analytics features offer valuable insights into user engagement, course popularity, and instructor performance, supporting data-driven decisions.</a:t>
            </a:r>
          </a:p>
          <a:p>
            <a:pPr marL="285750" indent="-285750">
              <a:buClr>
                <a:schemeClr val="accent1">
                  <a:lumMod val="75000"/>
                </a:schemeClr>
              </a:buClr>
              <a:buFont typeface="Wingdings" panose="05000000000000000000" pitchFamily="2" charset="2"/>
              <a:buChar char="Ø"/>
            </a:pPr>
            <a:r>
              <a:rPr lang="en-US" dirty="0"/>
              <a:t>Through thoughtful feature engineering, the system efficiently transforms raw data into meaningful indicators such as engagement scores and rating categories, facilitating better recommendation quality. Overall, this project illustrates the power of combining data science, machine learning, and user-centric design to enhance online education platforms, driving improved learner engagement, course completion rates, and satisfaction.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1B5BD-0B5F-4E89-A7F7-7D67A490F41B}"/>
              </a:ext>
            </a:extLst>
          </p:cNvPr>
          <p:cNvSpPr>
            <a:spLocks noGrp="1"/>
          </p:cNvSpPr>
          <p:nvPr>
            <p:ph type="title"/>
          </p:nvPr>
        </p:nvSpPr>
        <p:spPr>
          <a:xfrm>
            <a:off x="4652275" y="140639"/>
            <a:ext cx="3335584" cy="731724"/>
          </a:xfrm>
        </p:spPr>
        <p:txBody>
          <a:bodyPr>
            <a:normAutofit fontScale="90000"/>
          </a:bodyPr>
          <a:lstStyle/>
          <a:p>
            <a:r>
              <a:rPr lang="en-US" b="1" dirty="0"/>
              <a:t>Future Scope</a:t>
            </a:r>
            <a:br>
              <a:rPr lang="en-US" b="1" dirty="0"/>
            </a:br>
            <a:endParaRPr lang="en-US" dirty="0"/>
          </a:p>
        </p:txBody>
      </p:sp>
      <p:sp>
        <p:nvSpPr>
          <p:cNvPr id="3" name="Content Placeholder 2">
            <a:extLst>
              <a:ext uri="{FF2B5EF4-FFF2-40B4-BE49-F238E27FC236}">
                <a16:creationId xmlns:a16="http://schemas.microsoft.com/office/drawing/2014/main" id="{FCDD6C5B-E83D-42E5-9301-EA4862B6F4CC}"/>
              </a:ext>
            </a:extLst>
          </p:cNvPr>
          <p:cNvSpPr>
            <a:spLocks noGrp="1"/>
          </p:cNvSpPr>
          <p:nvPr>
            <p:ph idx="1"/>
          </p:nvPr>
        </p:nvSpPr>
        <p:spPr>
          <a:xfrm>
            <a:off x="679935" y="1545021"/>
            <a:ext cx="10828954" cy="4876800"/>
          </a:xfrm>
        </p:spPr>
        <p:txBody>
          <a:bodyPr>
            <a:normAutofit/>
          </a:bodyPr>
          <a:lstStyle/>
          <a:p>
            <a:pPr marL="0" indent="0">
              <a:buNone/>
            </a:pPr>
            <a:endParaRPr lang="en-US" b="1" dirty="0"/>
          </a:p>
          <a:p>
            <a:endParaRPr lang="en-US" dirty="0"/>
          </a:p>
        </p:txBody>
      </p:sp>
      <p:cxnSp>
        <p:nvCxnSpPr>
          <p:cNvPr id="4" name="Straight Arrow Connector 3">
            <a:extLst>
              <a:ext uri="{FF2B5EF4-FFF2-40B4-BE49-F238E27FC236}">
                <a16:creationId xmlns:a16="http://schemas.microsoft.com/office/drawing/2014/main" id="{776A3AA0-FDF4-4D39-AFF7-B74E1AC97C76}"/>
              </a:ext>
            </a:extLst>
          </p:cNvPr>
          <p:cNvCxnSpPr>
            <a:cxnSpLocks/>
          </p:cNvCxnSpPr>
          <p:nvPr/>
        </p:nvCxnSpPr>
        <p:spPr>
          <a:xfrm>
            <a:off x="7409794" y="304801"/>
            <a:ext cx="0" cy="3573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5">
            <a:extLst>
              <a:ext uri="{FF2B5EF4-FFF2-40B4-BE49-F238E27FC236}">
                <a16:creationId xmlns:a16="http://schemas.microsoft.com/office/drawing/2014/main" id="{EFFB3543-FF07-4167-A046-0AC34BD49B91}"/>
              </a:ext>
            </a:extLst>
          </p:cNvPr>
          <p:cNvSpPr>
            <a:spLocks noChangeArrowheads="1"/>
          </p:cNvSpPr>
          <p:nvPr/>
        </p:nvSpPr>
        <p:spPr bwMode="auto">
          <a:xfrm rot="10800000" flipV="1">
            <a:off x="435053" y="859333"/>
            <a:ext cx="11199898"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a:ln>
                  <a:noFill/>
                </a:ln>
                <a:solidFill>
                  <a:schemeClr val="tx1"/>
                </a:solidFill>
                <a:effectLst/>
                <a:latin typeface="Arial" panose="020B0604020202020204" pitchFamily="34" charset="0"/>
              </a:rPr>
              <a:t>Incorporate Deeper User Behavior Signals</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Beyond basic ratings and enrollments, integrating fine-grained behavioral data such as time spent on specific course modules, clickstream patterns, pause/rewind actions, and course completion rates will enrich user profiles. This will enable more nuanced, dynamic recommendations tailored to individual learning styles and habits.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a:ln>
                  <a:noFill/>
                </a:ln>
                <a:solidFill>
                  <a:schemeClr val="tx1"/>
                </a:solidFill>
                <a:effectLst/>
                <a:latin typeface="Arial" panose="020B0604020202020204" pitchFamily="34" charset="0"/>
              </a:rPr>
              <a:t>Adopt Advanced Deep Learning Architectures</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Employing state-of-the-art models like neural collaborative filtering, transformer-based embeddings, or graph neural networks can capture complex, non-linear relationships between users and courses. These models can uncover latent features and provide even more precise and context-aware suggestions.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a:ln>
                  <a:noFill/>
                </a:ln>
                <a:solidFill>
                  <a:schemeClr val="tx1"/>
                </a:solidFill>
                <a:effectLst/>
                <a:latin typeface="Arial" panose="020B0604020202020204" pitchFamily="34" charset="0"/>
              </a:rPr>
              <a:t>Personalize with Contextual and Demographic Data</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Incorporating users’ demographic details, social contexts, device types, or even geographic location can improve personalization. For example, recommendations could adapt to cultural preferences, time zones, or learning goals, making suggestions more relevant and timely.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a:ln>
                  <a:noFill/>
                </a:ln>
                <a:solidFill>
                  <a:schemeClr val="tx1"/>
                </a:solidFill>
                <a:effectLst/>
                <a:latin typeface="Arial" panose="020B0604020202020204" pitchFamily="34" charset="0"/>
              </a:rPr>
              <a:t>Enable Real-Time Adaptive Recommendations</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Integrating live user interaction tracking and feedback loops will allow the system to update recommendations in real time. This responsiveness will keep suggestions fresh, aligned with evolving user interests, and responsive to immediate needs.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a:ln>
                  <a:noFill/>
                </a:ln>
                <a:solidFill>
                  <a:schemeClr val="tx1"/>
                </a:solidFill>
                <a:effectLst/>
                <a:latin typeface="Arial" panose="020B0604020202020204" pitchFamily="34" charset="0"/>
              </a:rPr>
              <a:t>Enhance </a:t>
            </a:r>
            <a:r>
              <a:rPr kumimoji="0" lang="en-US" altLang="en-US" sz="1400" b="1" i="0" u="none" strike="noStrike" cap="none" normalizeH="0" baseline="0" dirty="0" err="1">
                <a:ln>
                  <a:noFill/>
                </a:ln>
                <a:solidFill>
                  <a:schemeClr val="tx1"/>
                </a:solidFill>
                <a:effectLst/>
                <a:latin typeface="Arial" panose="020B0604020202020204" pitchFamily="34" charset="0"/>
              </a:rPr>
              <a:t>Explainability</a:t>
            </a:r>
            <a:r>
              <a:rPr kumimoji="0" lang="en-US" altLang="en-US" sz="1400" b="1" i="0" u="none" strike="noStrike" cap="none" normalizeH="0" baseline="0" dirty="0">
                <a:ln>
                  <a:noFill/>
                </a:ln>
                <a:solidFill>
                  <a:schemeClr val="tx1"/>
                </a:solidFill>
                <a:effectLst/>
                <a:latin typeface="Arial" panose="020B0604020202020204" pitchFamily="34" charset="0"/>
              </a:rPr>
              <a:t> and Transparency</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Building </a:t>
            </a:r>
            <a:r>
              <a:rPr kumimoji="0" lang="en-US" altLang="en-US" sz="1400" b="0" i="0" u="none" strike="noStrike" cap="none" normalizeH="0" baseline="0" dirty="0" err="1">
                <a:ln>
                  <a:noFill/>
                </a:ln>
                <a:solidFill>
                  <a:schemeClr val="tx1"/>
                </a:solidFill>
                <a:effectLst/>
                <a:latin typeface="Arial" panose="020B0604020202020204" pitchFamily="34" charset="0"/>
              </a:rPr>
              <a:t>explainability</a:t>
            </a:r>
            <a:r>
              <a:rPr kumimoji="0" lang="en-US" altLang="en-US" sz="1400" b="0" i="0" u="none" strike="noStrike" cap="none" normalizeH="0" baseline="0" dirty="0">
                <a:ln>
                  <a:noFill/>
                </a:ln>
                <a:solidFill>
                  <a:schemeClr val="tx1"/>
                </a:solidFill>
                <a:effectLst/>
                <a:latin typeface="Arial" panose="020B0604020202020204" pitchFamily="34" charset="0"/>
              </a:rPr>
              <a:t> features that communicate why a course is recommended can significantly boost user trust and engagement. Clear, user-friendly explanations help demystify AI decisions, making learners more confident in exploring suggested content.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a:ln>
                  <a:noFill/>
                </a:ln>
                <a:solidFill>
                  <a:schemeClr val="tx1"/>
                </a:solidFill>
                <a:effectLst/>
                <a:latin typeface="Arial" panose="020B0604020202020204" pitchFamily="34" charset="0"/>
              </a:rPr>
              <a:t>Cloud-Native Deployment for Scalability</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Migrating the platform to scalable cloud infrastructure will improve accessibility, support larger user bases, and enable faster computation and delivery of recommendations. Cloud deployment also opens doors to integrate with other services and supports continuous integration and delivery (CI/CD) pipelines.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a:ln>
                  <a:noFill/>
                </a:ln>
                <a:solidFill>
                  <a:schemeClr val="tx1"/>
                </a:solidFill>
                <a:effectLst/>
                <a:latin typeface="Arial" panose="020B0604020202020204" pitchFamily="34" charset="0"/>
              </a:rPr>
              <a:t>Cross-Platform Integration and API Development</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Expanding the system to offer APIs would allow integration with other learning management systems (LMS), mobile apps, and educational platforms, extending its reach and utility.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a:ln>
                  <a:noFill/>
                </a:ln>
                <a:solidFill>
                  <a:schemeClr val="tx1"/>
                </a:solidFill>
                <a:effectLst/>
                <a:latin typeface="Arial" panose="020B0604020202020204" pitchFamily="34" charset="0"/>
              </a:rPr>
              <a:t>Instructor and Course Content Improvement</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Using analytics on course feedback and user engagement to provide actionable insights to instructors can help improve course quality, further enhancing the recommendation ecosystem.</a:t>
            </a:r>
          </a:p>
        </p:txBody>
      </p:sp>
    </p:spTree>
    <p:extLst>
      <p:ext uri="{BB962C8B-B14F-4D97-AF65-F5344CB8AC3E}">
        <p14:creationId xmlns:p14="http://schemas.microsoft.com/office/powerpoint/2010/main" val="22632957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96C0501-8557-47B4-8C02-326194664D73}"/>
              </a:ext>
            </a:extLst>
          </p:cNvPr>
          <p:cNvSpPr/>
          <p:nvPr/>
        </p:nvSpPr>
        <p:spPr>
          <a:xfrm>
            <a:off x="2133601" y="2967334"/>
            <a:ext cx="7532914" cy="923330"/>
          </a:xfrm>
          <a:prstGeom prst="rect">
            <a:avLst/>
          </a:prstGeom>
          <a:noFill/>
        </p:spPr>
        <p:txBody>
          <a:bodyPr wrap="square" lIns="91440" tIns="45720" rIns="91440" bIns="45720">
            <a:spAutoFit/>
          </a:bodyPr>
          <a:lstStyle/>
          <a:p>
            <a:pPr algn="ctr"/>
            <a:r>
              <a:rPr lang="en-US" sz="5400" b="1" dirty="0">
                <a:ln w="9525">
                  <a:solidFill>
                    <a:schemeClr val="bg1"/>
                  </a:solidFill>
                  <a:prstDash val="solid"/>
                </a:ln>
                <a:effectLst>
                  <a:outerShdw blurRad="12700" dist="38100" dir="2700000" algn="tl" rotWithShape="0">
                    <a:schemeClr val="bg1">
                      <a:lumMod val="50000"/>
                    </a:schemeClr>
                  </a:outerShdw>
                </a:effectLst>
              </a:rPr>
              <a:t>Thank You!</a:t>
            </a: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1585</TotalTime>
  <Words>1425</Words>
  <Application>Microsoft Office PowerPoint</Application>
  <PresentationFormat>Custom</PresentationFormat>
  <Paragraphs>77</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Algerian</vt:lpstr>
      <vt:lpstr>Arial</vt:lpstr>
      <vt:lpstr>Cambria</vt:lpstr>
      <vt:lpstr>Source Sans</vt:lpstr>
      <vt:lpstr>Trebuchet MS</vt:lpstr>
      <vt:lpstr>Wingdings</vt:lpstr>
      <vt:lpstr>Wingdings 3</vt:lpstr>
      <vt:lpstr>Facet</vt:lpstr>
      <vt:lpstr>🎓 Online Course Recommender</vt:lpstr>
      <vt:lpstr>CONTENTS </vt:lpstr>
      <vt:lpstr>Problem Statement </vt:lpstr>
      <vt:lpstr>Exploratory Data  Analysis (EDA)</vt:lpstr>
      <vt:lpstr>PowerPoint Presentation</vt:lpstr>
      <vt:lpstr>PowerPoint Presentation</vt:lpstr>
      <vt:lpstr>PowerPoint Presentation</vt:lpstr>
      <vt:lpstr>PowerPoint Presentation</vt:lpstr>
      <vt:lpstr>PowerPoint Presentation</vt:lpstr>
      <vt:lpstr>Model Building</vt:lpstr>
      <vt:lpstr>PowerPoint Presentation</vt:lpstr>
      <vt:lpstr>Streamlit AI Course Recommender App</vt:lpstr>
      <vt:lpstr>Final Conclusion</vt:lpstr>
      <vt:lpstr>Future Scope </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Bankruptcy Prediction using Machine Learning</dc:title>
  <dc:subject/>
  <dc:creator/>
  <cp:keywords/>
  <dc:description>generated using python-pptx</dc:description>
  <cp:lastModifiedBy>amitraychoudhury503@gmail.com</cp:lastModifiedBy>
  <cp:revision>27</cp:revision>
  <dcterms:created xsi:type="dcterms:W3CDTF">2013-01-27T09:14:16Z</dcterms:created>
  <dcterms:modified xsi:type="dcterms:W3CDTF">2025-12-16T06:33:36Z</dcterms:modified>
  <cp:category/>
</cp:coreProperties>
</file>